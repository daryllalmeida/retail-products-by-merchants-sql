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61" r:id="rId2"/>
    <p:sldId id="267" r:id="rId3"/>
    <p:sldId id="266" r:id="rId4"/>
    <p:sldId id="275" r:id="rId5"/>
    <p:sldId id="296" r:id="rId6"/>
    <p:sldId id="297" r:id="rId7"/>
    <p:sldId id="276" r:id="rId8"/>
    <p:sldId id="278" r:id="rId9"/>
    <p:sldId id="295"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76"/>
    <p:restoredTop sz="94648"/>
  </p:normalViewPr>
  <p:slideViewPr>
    <p:cSldViewPr snapToGrid="0">
      <p:cViewPr varScale="1">
        <p:scale>
          <a:sx n="107" d="100"/>
          <a:sy n="107" d="100"/>
        </p:scale>
        <p:origin x="1000"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46E9E8-21C5-7447-9E49-F07033F3801C}" type="datetimeFigureOut">
              <a:rPr lang="en-US" smtClean="0"/>
              <a:t>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1488854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46E9E8-21C5-7447-9E49-F07033F3801C}" type="datetimeFigureOut">
              <a:rPr lang="en-US" smtClean="0"/>
              <a:t>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13729544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shade val="82000"/>
                  </a:schemeClr>
                </a:solidFill>
              </a:defRPr>
            </a:lvl1pPr>
            <a:lvl2pPr marL="457200" indent="0">
              <a:buNone/>
              <a:defRPr sz="2000">
                <a:solidFill>
                  <a:schemeClr val="tx1">
                    <a:shade val="82000"/>
                  </a:schemeClr>
                </a:solidFill>
              </a:defRPr>
            </a:lvl2pPr>
            <a:lvl3pPr marL="914400" indent="0">
              <a:buNone/>
              <a:defRPr sz="1800">
                <a:solidFill>
                  <a:schemeClr val="tx1">
                    <a:shade val="82000"/>
                  </a:schemeClr>
                </a:solidFill>
              </a:defRPr>
            </a:lvl3pPr>
            <a:lvl4pPr marL="1371600" indent="0">
              <a:buNone/>
              <a:defRPr sz="1600">
                <a:solidFill>
                  <a:schemeClr val="tx1">
                    <a:shade val="82000"/>
                  </a:schemeClr>
                </a:solidFill>
              </a:defRPr>
            </a:lvl4pPr>
            <a:lvl5pPr marL="1828800" indent="0">
              <a:buNone/>
              <a:defRPr sz="1600">
                <a:solidFill>
                  <a:schemeClr val="tx1">
                    <a:shade val="82000"/>
                  </a:schemeClr>
                </a:solidFill>
              </a:defRPr>
            </a:lvl5pPr>
            <a:lvl6pPr marL="2286000" indent="0">
              <a:buNone/>
              <a:defRPr sz="1600">
                <a:solidFill>
                  <a:schemeClr val="tx1">
                    <a:shade val="82000"/>
                  </a:schemeClr>
                </a:solidFill>
              </a:defRPr>
            </a:lvl6pPr>
            <a:lvl7pPr marL="2743200" indent="0">
              <a:buNone/>
              <a:defRPr sz="1600">
                <a:solidFill>
                  <a:schemeClr val="tx1">
                    <a:shade val="82000"/>
                  </a:schemeClr>
                </a:solidFill>
              </a:defRPr>
            </a:lvl7pPr>
            <a:lvl8pPr marL="3200400" indent="0">
              <a:buNone/>
              <a:defRPr sz="1600">
                <a:solidFill>
                  <a:schemeClr val="tx1">
                    <a:shade val="82000"/>
                  </a:schemeClr>
                </a:solidFill>
              </a:defRPr>
            </a:lvl8pPr>
            <a:lvl9pPr marL="3657600" indent="0">
              <a:buNone/>
              <a:defRPr sz="1600">
                <a:solidFill>
                  <a:schemeClr val="tx1">
                    <a:shade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46E9E8-21C5-7447-9E49-F07033F3801C}" type="datetimeFigureOut">
              <a:rPr lang="en-US" smtClean="0"/>
              <a:t>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37705925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846E9E8-21C5-7447-9E49-F07033F3801C}" type="datetimeFigureOut">
              <a:rPr lang="en-US" smtClean="0"/>
              <a:t>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713149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46E9E8-21C5-7447-9E49-F07033F3801C}" type="datetimeFigureOut">
              <a:rPr lang="en-US" smtClean="0"/>
              <a:t>1/3/26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4080114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846E9E8-21C5-7447-9E49-F07033F3801C}" type="datetimeFigureOut">
              <a:rPr lang="en-US" smtClean="0"/>
              <a:t>1/3/26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4016496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46E9E8-21C5-7447-9E49-F07033F3801C}" type="datetimeFigureOut">
              <a:rPr lang="en-US" smtClean="0"/>
              <a:t>1/3/26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171344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46E9E8-21C5-7447-9E49-F07033F3801C}" type="datetimeFigureOut">
              <a:rPr lang="en-US" smtClean="0"/>
              <a:t>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25185683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46E9E8-21C5-7447-9E49-F07033F3801C}" type="datetimeFigureOut">
              <a:rPr lang="en-US" smtClean="0"/>
              <a:t>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38812974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46E9E8-21C5-7447-9E49-F07033F3801C}" type="datetimeFigureOut">
              <a:rPr lang="en-US" smtClean="0"/>
              <a:t>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291211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46E9E8-21C5-7447-9E49-F07033F3801C}" type="datetimeFigureOut">
              <a:rPr lang="en-US" smtClean="0"/>
              <a:t>1/3/26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48BC3A-E46B-C345-A020-F351CF00C42E}" type="slidenum">
              <a:rPr lang="en-US" smtClean="0"/>
              <a:t>‹#›</a:t>
            </a:fld>
            <a:endParaRPr lang="en-US"/>
          </a:p>
        </p:txBody>
      </p:sp>
    </p:spTree>
    <p:extLst>
      <p:ext uri="{BB962C8B-B14F-4D97-AF65-F5344CB8AC3E}">
        <p14:creationId xmlns:p14="http://schemas.microsoft.com/office/powerpoint/2010/main" val="1393296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shade val="82000"/>
                  </a:schemeClr>
                </a:solidFill>
              </a:defRPr>
            </a:lvl1pPr>
          </a:lstStyle>
          <a:p>
            <a:fld id="{8846E9E8-21C5-7447-9E49-F07033F3801C}" type="datetimeFigureOut">
              <a:rPr lang="en-US" smtClean="0"/>
              <a:t>1/3/26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shade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shade val="82000"/>
                  </a:schemeClr>
                </a:solidFill>
              </a:defRPr>
            </a:lvl1pPr>
          </a:lstStyle>
          <a:p>
            <a:fld id="{7248BC3A-E46B-C345-A020-F351CF00C42E}" type="slidenum">
              <a:rPr lang="en-US" smtClean="0"/>
              <a:t>‹#›</a:t>
            </a:fld>
            <a:endParaRPr lang="en-US"/>
          </a:p>
        </p:txBody>
      </p:sp>
    </p:spTree>
    <p:extLst>
      <p:ext uri="{BB962C8B-B14F-4D97-AF65-F5344CB8AC3E}">
        <p14:creationId xmlns:p14="http://schemas.microsoft.com/office/powerpoint/2010/main" val="190150445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72FEEC2-685B-8A9F-E587-9B3E07BC67C9}"/>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08D8F959-9D31-7224-E603-3DC85D4BC9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7" name="Freeform: Shape 11">
            <a:extLst>
              <a:ext uri="{FF2B5EF4-FFF2-40B4-BE49-F238E27FC236}">
                <a16:creationId xmlns:a16="http://schemas.microsoft.com/office/drawing/2014/main" id="{AE9E8610-5451-7A89-DAFE-29166B54C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E9917C7E-32AD-0337-3859-CCEE20E836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2DF47E2-646B-28DC-DE8B-D9B56126BF46}"/>
              </a:ext>
            </a:extLst>
          </p:cNvPr>
          <p:cNvSpPr>
            <a:spLocks noGrp="1"/>
          </p:cNvSpPr>
          <p:nvPr>
            <p:ph type="ctrTitle"/>
          </p:nvPr>
        </p:nvSpPr>
        <p:spPr>
          <a:xfrm>
            <a:off x="5221274" y="2137498"/>
            <a:ext cx="6238414" cy="2196189"/>
          </a:xfrm>
        </p:spPr>
        <p:txBody>
          <a:bodyPr anchor="t">
            <a:noAutofit/>
          </a:bodyPr>
          <a:lstStyle/>
          <a:p>
            <a:pPr algn="l"/>
            <a:r>
              <a:rPr lang="en-US" sz="4400" b="1" dirty="0">
                <a:solidFill>
                  <a:schemeClr val="bg1"/>
                </a:solidFill>
                <a:latin typeface="+mn-lt"/>
                <a:cs typeface="Aharoni" panose="020F0502020204030204" pitchFamily="34" charset="0"/>
              </a:rPr>
              <a:t>Case Study on Catalog Assortment &amp; Fulfillment</a:t>
            </a:r>
          </a:p>
        </p:txBody>
      </p:sp>
      <p:sp>
        <p:nvSpPr>
          <p:cNvPr id="3" name="Subtitle 2">
            <a:extLst>
              <a:ext uri="{FF2B5EF4-FFF2-40B4-BE49-F238E27FC236}">
                <a16:creationId xmlns:a16="http://schemas.microsoft.com/office/drawing/2014/main" id="{0C6D0B24-B2A6-24BD-1143-9F31519D757D}"/>
              </a:ext>
            </a:extLst>
          </p:cNvPr>
          <p:cNvSpPr>
            <a:spLocks noGrp="1"/>
          </p:cNvSpPr>
          <p:nvPr>
            <p:ph type="subTitle" idx="1"/>
          </p:nvPr>
        </p:nvSpPr>
        <p:spPr>
          <a:xfrm>
            <a:off x="477981" y="4872922"/>
            <a:ext cx="3933306" cy="1208141"/>
          </a:xfrm>
        </p:spPr>
        <p:txBody>
          <a:bodyPr>
            <a:normAutofit/>
          </a:bodyPr>
          <a:lstStyle/>
          <a:p>
            <a:pPr algn="l"/>
            <a:r>
              <a:rPr lang="en-US" sz="2000" b="1" dirty="0">
                <a:solidFill>
                  <a:schemeClr val="bg1"/>
                </a:solidFill>
                <a:latin typeface="Aptos" panose="020B0004020202020204" pitchFamily="34" charset="0"/>
                <a:cs typeface="Aharoni" panose="02010803020104030203" pitchFamily="2" charset="-79"/>
              </a:rPr>
              <a:t>By: Daryll Dalmeida</a:t>
            </a:r>
          </a:p>
        </p:txBody>
      </p:sp>
      <p:sp>
        <p:nvSpPr>
          <p:cNvPr id="16" name="Rectangle 15">
            <a:extLst>
              <a:ext uri="{FF2B5EF4-FFF2-40B4-BE49-F238E27FC236}">
                <a16:creationId xmlns:a16="http://schemas.microsoft.com/office/drawing/2014/main" id="{F89264FD-A39C-E969-7F31-F1ADAA2BA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506FB7C6-86A2-9E1C-8442-284D1884EE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664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A179888-E593-F27E-0125-AF651147DD26}"/>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8F5971DC-6D1B-74CD-0081-E9BC4CC7132E}"/>
              </a:ext>
            </a:extLst>
          </p:cNvPr>
          <p:cNvSpPr/>
          <p:nvPr/>
        </p:nvSpPr>
        <p:spPr>
          <a:xfrm>
            <a:off x="126674" y="3989431"/>
            <a:ext cx="2143149" cy="2110277"/>
          </a:xfrm>
          <a:prstGeom prst="rect">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CF89301-2870-5749-DE0D-E8443F6BB410}"/>
              </a:ext>
            </a:extLst>
          </p:cNvPr>
          <p:cNvSpPr>
            <a:spLocks noGrp="1"/>
          </p:cNvSpPr>
          <p:nvPr>
            <p:ph type="title"/>
          </p:nvPr>
        </p:nvSpPr>
        <p:spPr>
          <a:xfrm>
            <a:off x="1745673" y="230590"/>
            <a:ext cx="7826828" cy="553179"/>
          </a:xfrm>
        </p:spPr>
        <p:txBody>
          <a:bodyPr>
            <a:normAutofit fontScale="90000"/>
          </a:bodyPr>
          <a:lstStyle/>
          <a:p>
            <a:pPr algn="r"/>
            <a:r>
              <a:rPr lang="en-US" b="1" dirty="0">
                <a:solidFill>
                  <a:schemeClr val="bg1"/>
                </a:solidFill>
              </a:rPr>
              <a:t>Case Statement &amp; Success Metrics</a:t>
            </a:r>
          </a:p>
        </p:txBody>
      </p:sp>
      <p:sp>
        <p:nvSpPr>
          <p:cNvPr id="3" name="Content Placeholder 2">
            <a:extLst>
              <a:ext uri="{FF2B5EF4-FFF2-40B4-BE49-F238E27FC236}">
                <a16:creationId xmlns:a16="http://schemas.microsoft.com/office/drawing/2014/main" id="{62810FC3-0CCC-5BC5-357D-D9BDE5761F4A}"/>
              </a:ext>
            </a:extLst>
          </p:cNvPr>
          <p:cNvSpPr>
            <a:spLocks noGrp="1"/>
          </p:cNvSpPr>
          <p:nvPr>
            <p:ph idx="1"/>
          </p:nvPr>
        </p:nvSpPr>
        <p:spPr>
          <a:xfrm>
            <a:off x="455811" y="913414"/>
            <a:ext cx="11280378" cy="5238006"/>
          </a:xfrm>
        </p:spPr>
        <p:txBody>
          <a:bodyPr>
            <a:noAutofit/>
          </a:bodyPr>
          <a:lstStyle/>
          <a:p>
            <a:pPr marL="0" indent="0">
              <a:buNone/>
            </a:pPr>
            <a:r>
              <a:rPr lang="en-US" sz="2000" b="1" i="1" dirty="0">
                <a:solidFill>
                  <a:schemeClr val="bg1"/>
                </a:solidFill>
              </a:rPr>
              <a:t>Background: </a:t>
            </a:r>
            <a:r>
              <a:rPr lang="en-US" sz="2000" dirty="0">
                <a:solidFill>
                  <a:schemeClr val="bg1"/>
                </a:solidFill>
              </a:rPr>
              <a:t>Delayed/incorrect merchant inventory feeds and one-size-fits-all low-stock rules make the app’s availability unreliable: items show as “available” when they aren’t at pick time or get over-suppressed. This inflates item-level Found Rate while reducing % orders fully filled and shrinking assortment—eroding trust. We need a near-real-time, configurable availability signal (by region/store type/category) that balances </a:t>
            </a:r>
            <a:r>
              <a:rPr lang="en-US" sz="2000" b="1" dirty="0">
                <a:solidFill>
                  <a:schemeClr val="bg1"/>
                </a:solidFill>
              </a:rPr>
              <a:t>FR, %OOS, %Available </a:t>
            </a:r>
            <a:r>
              <a:rPr lang="en-US" sz="2000" dirty="0">
                <a:solidFill>
                  <a:schemeClr val="bg1"/>
                </a:solidFill>
              </a:rPr>
              <a:t>and minimizes the gap.</a:t>
            </a:r>
          </a:p>
          <a:p>
            <a:pPr marL="0" indent="0">
              <a:buNone/>
            </a:pPr>
            <a:r>
              <a:rPr lang="en-US" sz="2000" b="1" i="1" dirty="0">
                <a:solidFill>
                  <a:schemeClr val="bg1"/>
                </a:solidFill>
              </a:rPr>
              <a:t>Customer Impact: </a:t>
            </a:r>
            <a:r>
              <a:rPr lang="en-US" sz="2000" dirty="0">
                <a:solidFill>
                  <a:schemeClr val="bg1"/>
                </a:solidFill>
              </a:rPr>
              <a:t>This leads to increased customers dissatisfaction, incorrect substitutions &amp; higher chances of error.</a:t>
            </a:r>
          </a:p>
          <a:p>
            <a:pPr marL="0" indent="0">
              <a:buNone/>
            </a:pPr>
            <a:r>
              <a:rPr lang="en-US" sz="2000" b="1" i="1" dirty="0">
                <a:solidFill>
                  <a:schemeClr val="bg1"/>
                </a:solidFill>
              </a:rPr>
              <a:t>Goal</a:t>
            </a:r>
            <a:r>
              <a:rPr lang="en-US" sz="2000" i="1" dirty="0">
                <a:solidFill>
                  <a:schemeClr val="bg1"/>
                </a:solidFill>
              </a:rPr>
              <a:t>: </a:t>
            </a:r>
            <a:r>
              <a:rPr lang="en-US" sz="2000" dirty="0">
                <a:solidFill>
                  <a:schemeClr val="bg1"/>
                </a:solidFill>
              </a:rPr>
              <a:t>Benchmark June 2023 fulfillment &amp; assortment performance and deliver scalable fixes based on the below metrics:</a:t>
            </a:r>
          </a:p>
          <a:p>
            <a:pPr marL="0" indent="0">
              <a:buNone/>
            </a:pPr>
            <a:endParaRPr lang="en-US" sz="2000" i="1" dirty="0">
              <a:solidFill>
                <a:schemeClr val="bg1"/>
              </a:solidFill>
            </a:endParaRPr>
          </a:p>
          <a:p>
            <a:pPr marL="0" indent="0">
              <a:buNone/>
            </a:pPr>
            <a:endParaRPr lang="en-US" i="1" dirty="0">
              <a:solidFill>
                <a:schemeClr val="bg1"/>
              </a:solidFill>
            </a:endParaRPr>
          </a:p>
          <a:p>
            <a:pPr marL="0" indent="0">
              <a:buNone/>
            </a:pPr>
            <a:endParaRPr lang="en-US" i="1" dirty="0">
              <a:solidFill>
                <a:schemeClr val="bg1"/>
              </a:solidFill>
            </a:endParaRPr>
          </a:p>
          <a:p>
            <a:pPr marL="0" indent="0">
              <a:buNone/>
            </a:pPr>
            <a:endParaRPr lang="en-US" i="1" dirty="0">
              <a:solidFill>
                <a:schemeClr val="bg1"/>
              </a:solidFill>
            </a:endParaRPr>
          </a:p>
        </p:txBody>
      </p:sp>
      <p:sp>
        <p:nvSpPr>
          <p:cNvPr id="6" name="Content Placeholder 2">
            <a:extLst>
              <a:ext uri="{FF2B5EF4-FFF2-40B4-BE49-F238E27FC236}">
                <a16:creationId xmlns:a16="http://schemas.microsoft.com/office/drawing/2014/main" id="{E2409EAF-41D8-0727-AAE8-627B5F1B4998}"/>
              </a:ext>
            </a:extLst>
          </p:cNvPr>
          <p:cNvSpPr txBox="1">
            <a:spLocks/>
          </p:cNvSpPr>
          <p:nvPr/>
        </p:nvSpPr>
        <p:spPr>
          <a:xfrm>
            <a:off x="240978" y="6253279"/>
            <a:ext cx="11714415" cy="42721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000" b="1" dirty="0">
                <a:solidFill>
                  <a:schemeClr val="bg1"/>
                </a:solidFill>
              </a:rPr>
              <a:t>To determine whether these metrics would succeed or not, we would need to experiment &amp; analyze!!</a:t>
            </a:r>
          </a:p>
        </p:txBody>
      </p:sp>
      <p:sp>
        <p:nvSpPr>
          <p:cNvPr id="5" name="Content Placeholder 2">
            <a:extLst>
              <a:ext uri="{FF2B5EF4-FFF2-40B4-BE49-F238E27FC236}">
                <a16:creationId xmlns:a16="http://schemas.microsoft.com/office/drawing/2014/main" id="{7724BEAB-83A4-33C0-3152-13363A5A5BB9}"/>
              </a:ext>
            </a:extLst>
          </p:cNvPr>
          <p:cNvSpPr txBox="1">
            <a:spLocks/>
          </p:cNvSpPr>
          <p:nvPr/>
        </p:nvSpPr>
        <p:spPr>
          <a:xfrm>
            <a:off x="220850" y="4179288"/>
            <a:ext cx="1930171" cy="172865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t>Measure &amp; benchmark </a:t>
            </a:r>
            <a:r>
              <a:rPr lang="en-US" sz="1700" dirty="0"/>
              <a:t>Found Rate(FR), #Orders, %OOS, %Available, #Available by store &amp; city.</a:t>
            </a:r>
          </a:p>
        </p:txBody>
      </p:sp>
      <p:sp>
        <p:nvSpPr>
          <p:cNvPr id="13" name="Rectangle 12">
            <a:extLst>
              <a:ext uri="{FF2B5EF4-FFF2-40B4-BE49-F238E27FC236}">
                <a16:creationId xmlns:a16="http://schemas.microsoft.com/office/drawing/2014/main" id="{6E0D17E9-1F3F-0881-9D2A-73221E919D24}"/>
              </a:ext>
            </a:extLst>
          </p:cNvPr>
          <p:cNvSpPr/>
          <p:nvPr/>
        </p:nvSpPr>
        <p:spPr>
          <a:xfrm>
            <a:off x="2541808" y="3989431"/>
            <a:ext cx="2143149" cy="2110277"/>
          </a:xfrm>
          <a:prstGeom prst="rect">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34840BC-1316-01AE-88CA-B7E05FF38D30}"/>
              </a:ext>
            </a:extLst>
          </p:cNvPr>
          <p:cNvSpPr/>
          <p:nvPr/>
        </p:nvSpPr>
        <p:spPr>
          <a:xfrm>
            <a:off x="4971230" y="3988475"/>
            <a:ext cx="2143149" cy="2110277"/>
          </a:xfrm>
          <a:prstGeom prst="rect">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7729C41-AAA9-020C-4056-CF0757323942}"/>
              </a:ext>
            </a:extLst>
          </p:cNvPr>
          <p:cNvSpPr/>
          <p:nvPr/>
        </p:nvSpPr>
        <p:spPr>
          <a:xfrm>
            <a:off x="7443516" y="3965398"/>
            <a:ext cx="2143149" cy="2110277"/>
          </a:xfrm>
          <a:prstGeom prst="rect">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3861431-A28B-F1D5-41B1-21BD6B1EA9A9}"/>
              </a:ext>
            </a:extLst>
          </p:cNvPr>
          <p:cNvSpPr/>
          <p:nvPr/>
        </p:nvSpPr>
        <p:spPr>
          <a:xfrm>
            <a:off x="9928192" y="3954869"/>
            <a:ext cx="2230775" cy="2110277"/>
          </a:xfrm>
          <a:prstGeom prst="rect">
            <a:avLst/>
          </a:prstGeom>
          <a:solidFill>
            <a:schemeClr val="bg1"/>
          </a:solidFill>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ontent Placeholder 2">
            <a:extLst>
              <a:ext uri="{FF2B5EF4-FFF2-40B4-BE49-F238E27FC236}">
                <a16:creationId xmlns:a16="http://schemas.microsoft.com/office/drawing/2014/main" id="{C0BCCADA-B001-6DD6-095B-4B963BC7E931}"/>
              </a:ext>
            </a:extLst>
          </p:cNvPr>
          <p:cNvSpPr txBox="1">
            <a:spLocks/>
          </p:cNvSpPr>
          <p:nvPr/>
        </p:nvSpPr>
        <p:spPr>
          <a:xfrm>
            <a:off x="2645259" y="4270746"/>
            <a:ext cx="1988339" cy="42721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t>Diagnose trade-offs:</a:t>
            </a:r>
            <a:r>
              <a:rPr lang="en-US" sz="1700" dirty="0"/>
              <a:t> accuracy (Found Rate) vs variety (%Available) and customer impact.</a:t>
            </a:r>
          </a:p>
        </p:txBody>
      </p:sp>
      <p:sp>
        <p:nvSpPr>
          <p:cNvPr id="7" name="Content Placeholder 2">
            <a:extLst>
              <a:ext uri="{FF2B5EF4-FFF2-40B4-BE49-F238E27FC236}">
                <a16:creationId xmlns:a16="http://schemas.microsoft.com/office/drawing/2014/main" id="{23A751C9-AAAF-5F07-0C59-668BD36D93D8}"/>
              </a:ext>
            </a:extLst>
          </p:cNvPr>
          <p:cNvSpPr txBox="1">
            <a:spLocks/>
          </p:cNvSpPr>
          <p:nvPr/>
        </p:nvSpPr>
        <p:spPr>
          <a:xfrm>
            <a:off x="5063237" y="4167413"/>
            <a:ext cx="2051142" cy="83071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t>Deliver actions that scale:</a:t>
            </a:r>
            <a:r>
              <a:rPr lang="en-US" sz="1700" dirty="0"/>
              <a:t> regional OOS tuning, </a:t>
            </a:r>
            <a:r>
              <a:rPr lang="en-US" sz="1700" b="1" dirty="0"/>
              <a:t>auto-flag low-Found Rate stores</a:t>
            </a:r>
            <a:r>
              <a:rPr lang="en-US" sz="1700" dirty="0"/>
              <a:t>, and a </a:t>
            </a:r>
            <a:r>
              <a:rPr lang="en-US" sz="1700" b="1" dirty="0"/>
              <a:t>monitoring dashboards.</a:t>
            </a:r>
            <a:endParaRPr lang="en-US" sz="1700" dirty="0"/>
          </a:p>
        </p:txBody>
      </p:sp>
      <p:sp>
        <p:nvSpPr>
          <p:cNvPr id="8" name="Content Placeholder 2">
            <a:extLst>
              <a:ext uri="{FF2B5EF4-FFF2-40B4-BE49-F238E27FC236}">
                <a16:creationId xmlns:a16="http://schemas.microsoft.com/office/drawing/2014/main" id="{CCB8C1D5-3CA7-974A-B1E6-10F5DBB93F6E}"/>
              </a:ext>
            </a:extLst>
          </p:cNvPr>
          <p:cNvSpPr txBox="1">
            <a:spLocks/>
          </p:cNvSpPr>
          <p:nvPr/>
        </p:nvSpPr>
        <p:spPr>
          <a:xfrm>
            <a:off x="7661817" y="4271439"/>
            <a:ext cx="1846505" cy="9622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800" b="1" dirty="0"/>
              <a:t>Add strategic color:</a:t>
            </a:r>
            <a:r>
              <a:rPr lang="en-US" sz="1800" dirty="0"/>
              <a:t> check skew from </a:t>
            </a:r>
            <a:r>
              <a:rPr lang="en-US" sz="1800" b="1" dirty="0"/>
              <a:t>stock thresholds</a:t>
            </a:r>
            <a:r>
              <a:rPr lang="en-US" sz="1800" dirty="0"/>
              <a:t> and </a:t>
            </a:r>
            <a:r>
              <a:rPr lang="en-US" sz="1800" b="1" dirty="0"/>
              <a:t>merchant feed delays.</a:t>
            </a:r>
          </a:p>
        </p:txBody>
      </p:sp>
      <p:sp>
        <p:nvSpPr>
          <p:cNvPr id="10" name="Content Placeholder 2">
            <a:extLst>
              <a:ext uri="{FF2B5EF4-FFF2-40B4-BE49-F238E27FC236}">
                <a16:creationId xmlns:a16="http://schemas.microsoft.com/office/drawing/2014/main" id="{F609D752-5207-A466-520A-C975FD421D8D}"/>
              </a:ext>
            </a:extLst>
          </p:cNvPr>
          <p:cNvSpPr txBox="1">
            <a:spLocks/>
          </p:cNvSpPr>
          <p:nvPr/>
        </p:nvSpPr>
        <p:spPr>
          <a:xfrm>
            <a:off x="9961224" y="3974445"/>
            <a:ext cx="2230775" cy="9622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700" b="1" dirty="0"/>
              <a:t>Back it with SQL:</a:t>
            </a:r>
            <a:r>
              <a:rPr lang="en-US" sz="1700" dirty="0"/>
              <a:t> SQL-backed, in-depth analysis across </a:t>
            </a:r>
            <a:r>
              <a:rPr lang="en-US" sz="1700" b="1" dirty="0"/>
              <a:t>orders &amp; catalog data </a:t>
            </a:r>
            <a:r>
              <a:rPr lang="en-US" sz="1700" dirty="0"/>
              <a:t>to deliver actionable, </a:t>
            </a:r>
            <a:r>
              <a:rPr lang="en-US" sz="1700" b="1" dirty="0"/>
              <a:t>data-driven business recommendations</a:t>
            </a:r>
            <a:r>
              <a:rPr lang="en-US" sz="1700" dirty="0"/>
              <a:t>.</a:t>
            </a:r>
          </a:p>
        </p:txBody>
      </p:sp>
    </p:spTree>
    <p:extLst>
      <p:ext uri="{BB962C8B-B14F-4D97-AF65-F5344CB8AC3E}">
        <p14:creationId xmlns:p14="http://schemas.microsoft.com/office/powerpoint/2010/main" val="384499736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8350575E-BF69-B4D4-77BB-081E3C2BFE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5B5EAC-429D-7F97-CED8-8655F8EB0A62}"/>
              </a:ext>
            </a:extLst>
          </p:cNvPr>
          <p:cNvSpPr>
            <a:spLocks noGrp="1"/>
          </p:cNvSpPr>
          <p:nvPr>
            <p:ph type="title"/>
          </p:nvPr>
        </p:nvSpPr>
        <p:spPr>
          <a:xfrm>
            <a:off x="676893" y="230590"/>
            <a:ext cx="8799615" cy="647199"/>
          </a:xfrm>
        </p:spPr>
        <p:txBody>
          <a:bodyPr>
            <a:noAutofit/>
          </a:bodyPr>
          <a:lstStyle/>
          <a:p>
            <a:pPr algn="r"/>
            <a:r>
              <a:rPr lang="en-US" sz="4000" b="1" dirty="0">
                <a:solidFill>
                  <a:schemeClr val="bg1"/>
                </a:solidFill>
              </a:rPr>
              <a:t>Analyzing the stores performance</a:t>
            </a:r>
          </a:p>
        </p:txBody>
      </p:sp>
      <p:sp>
        <p:nvSpPr>
          <p:cNvPr id="3" name="Content Placeholder 2">
            <a:extLst>
              <a:ext uri="{FF2B5EF4-FFF2-40B4-BE49-F238E27FC236}">
                <a16:creationId xmlns:a16="http://schemas.microsoft.com/office/drawing/2014/main" id="{FE38F767-C34E-F1C6-29E2-04DFC2E30CCC}"/>
              </a:ext>
            </a:extLst>
          </p:cNvPr>
          <p:cNvSpPr>
            <a:spLocks noGrp="1"/>
          </p:cNvSpPr>
          <p:nvPr>
            <p:ph idx="1"/>
          </p:nvPr>
        </p:nvSpPr>
        <p:spPr>
          <a:xfrm>
            <a:off x="455811" y="996539"/>
            <a:ext cx="11280378" cy="5238006"/>
          </a:xfrm>
        </p:spPr>
        <p:txBody>
          <a:bodyPr>
            <a:noAutofit/>
          </a:bodyPr>
          <a:lstStyle/>
          <a:p>
            <a:pPr marL="0" indent="0">
              <a:buNone/>
            </a:pPr>
            <a:r>
              <a:rPr lang="en-US" sz="1800" b="1" i="1" dirty="0">
                <a:solidFill>
                  <a:schemeClr val="bg1"/>
                </a:solidFill>
              </a:rPr>
              <a:t>Question 1: </a:t>
            </a:r>
            <a:r>
              <a:rPr lang="en-US" sz="1800" dirty="0">
                <a:solidFill>
                  <a:schemeClr val="bg1"/>
                </a:solidFill>
              </a:rPr>
              <a:t>How are the stores performing in terms of order fulfillment &amp; catalog assortment? (June 2023)</a:t>
            </a:r>
          </a:p>
          <a:p>
            <a:r>
              <a:rPr lang="en-US" sz="1800" dirty="0">
                <a:solidFill>
                  <a:schemeClr val="bg1"/>
                </a:solidFill>
              </a:rPr>
              <a:t>The </a:t>
            </a:r>
            <a:r>
              <a:rPr lang="en-US" sz="1800" b="1" dirty="0">
                <a:solidFill>
                  <a:schemeClr val="bg1"/>
                </a:solidFill>
              </a:rPr>
              <a:t>Found rate(FR) </a:t>
            </a:r>
            <a:r>
              <a:rPr lang="en-US" sz="1800" dirty="0">
                <a:solidFill>
                  <a:schemeClr val="bg1"/>
                </a:solidFill>
              </a:rPr>
              <a:t>has been 89.7% from the 4556 delivered orders which indicates that the overall performance of the data in the catalog is good. </a:t>
            </a:r>
          </a:p>
          <a:p>
            <a:r>
              <a:rPr lang="en-US" sz="1800" b="1" dirty="0">
                <a:solidFill>
                  <a:schemeClr val="bg1"/>
                </a:solidFill>
              </a:rPr>
              <a:t>% Out of Stock </a:t>
            </a:r>
            <a:r>
              <a:rPr lang="en-US" sz="1800" dirty="0">
                <a:solidFill>
                  <a:schemeClr val="bg1"/>
                </a:solidFill>
              </a:rPr>
              <a:t>: 3.5%, </a:t>
            </a:r>
            <a:r>
              <a:rPr lang="en-US" sz="1800" b="1" dirty="0">
                <a:solidFill>
                  <a:schemeClr val="bg1"/>
                </a:solidFill>
              </a:rPr>
              <a:t>% Available </a:t>
            </a:r>
            <a:r>
              <a:rPr lang="en-US" sz="1800" dirty="0">
                <a:solidFill>
                  <a:schemeClr val="bg1"/>
                </a:solidFill>
              </a:rPr>
              <a:t>: 96.5</a:t>
            </a:r>
            <a:r>
              <a:rPr lang="en-US" sz="1800" b="1" dirty="0">
                <a:solidFill>
                  <a:schemeClr val="bg1"/>
                </a:solidFill>
              </a:rPr>
              <a:t>%, # of Available </a:t>
            </a:r>
            <a:r>
              <a:rPr lang="en-US" sz="1800" dirty="0">
                <a:solidFill>
                  <a:schemeClr val="bg1"/>
                </a:solidFill>
              </a:rPr>
              <a:t>: 114807. </a:t>
            </a:r>
          </a:p>
          <a:p>
            <a:pPr marL="0" indent="0">
              <a:buNone/>
            </a:pPr>
            <a:r>
              <a:rPr lang="en-US" sz="1800" b="1" i="1" dirty="0">
                <a:solidFill>
                  <a:schemeClr val="bg1"/>
                </a:solidFill>
              </a:rPr>
              <a:t>Key Insight</a:t>
            </a:r>
            <a:r>
              <a:rPr lang="en-US" sz="1800" dirty="0">
                <a:solidFill>
                  <a:schemeClr val="bg1"/>
                </a:solidFill>
              </a:rPr>
              <a:t>: </a:t>
            </a:r>
          </a:p>
          <a:p>
            <a:r>
              <a:rPr lang="en-US" sz="1800" dirty="0">
                <a:solidFill>
                  <a:schemeClr val="bg1"/>
                </a:solidFill>
              </a:rPr>
              <a:t>The found rate is very high in ‘</a:t>
            </a:r>
            <a:r>
              <a:rPr lang="en-US" sz="1800" b="1" dirty="0">
                <a:solidFill>
                  <a:schemeClr val="bg1"/>
                </a:solidFill>
              </a:rPr>
              <a:t>Valparaiso’ </a:t>
            </a:r>
            <a:r>
              <a:rPr lang="en-US" sz="1800" dirty="0">
                <a:solidFill>
                  <a:schemeClr val="bg1"/>
                </a:solidFill>
              </a:rPr>
              <a:t>&amp; </a:t>
            </a:r>
            <a:r>
              <a:rPr lang="en-US" sz="1800" b="1" dirty="0">
                <a:solidFill>
                  <a:schemeClr val="bg1"/>
                </a:solidFill>
              </a:rPr>
              <a:t>‘La Serena’</a:t>
            </a:r>
            <a:r>
              <a:rPr lang="en-US" sz="1800" dirty="0">
                <a:solidFill>
                  <a:schemeClr val="bg1"/>
                </a:solidFill>
              </a:rPr>
              <a:t> for the store – </a:t>
            </a:r>
            <a:r>
              <a:rPr lang="en-US" sz="1800" b="1" dirty="0">
                <a:solidFill>
                  <a:schemeClr val="bg1"/>
                </a:solidFill>
              </a:rPr>
              <a:t>‘</a:t>
            </a:r>
            <a:r>
              <a:rPr lang="en-US" sz="1800" b="1" dirty="0" err="1">
                <a:solidFill>
                  <a:schemeClr val="bg1"/>
                </a:solidFill>
              </a:rPr>
              <a:t>Farmacias</a:t>
            </a:r>
            <a:r>
              <a:rPr lang="en-US" sz="1800" b="1" dirty="0">
                <a:solidFill>
                  <a:schemeClr val="bg1"/>
                </a:solidFill>
              </a:rPr>
              <a:t> Ahumada’ </a:t>
            </a:r>
            <a:r>
              <a:rPr lang="en-US" sz="1800" dirty="0">
                <a:solidFill>
                  <a:schemeClr val="bg1"/>
                </a:solidFill>
              </a:rPr>
              <a:t>whereas </a:t>
            </a:r>
            <a:r>
              <a:rPr lang="en-US" sz="1800" b="1" dirty="0">
                <a:solidFill>
                  <a:schemeClr val="bg1"/>
                </a:solidFill>
              </a:rPr>
              <a:t>Jumbo –</a:t>
            </a:r>
            <a:r>
              <a:rPr lang="en-US" sz="1800" dirty="0">
                <a:solidFill>
                  <a:schemeClr val="bg1"/>
                </a:solidFill>
              </a:rPr>
              <a:t> </a:t>
            </a:r>
            <a:r>
              <a:rPr lang="en-US" sz="1800" b="1" dirty="0">
                <a:solidFill>
                  <a:schemeClr val="bg1"/>
                </a:solidFill>
              </a:rPr>
              <a:t>La Serena </a:t>
            </a:r>
            <a:r>
              <a:rPr lang="en-US" sz="1800" dirty="0">
                <a:solidFill>
                  <a:schemeClr val="bg1"/>
                </a:solidFill>
              </a:rPr>
              <a:t>is at 79.24% - roughly </a:t>
            </a:r>
            <a:r>
              <a:rPr lang="en-US" sz="1800" b="1" dirty="0">
                <a:solidFill>
                  <a:schemeClr val="bg1"/>
                </a:solidFill>
              </a:rPr>
              <a:t>21 out of the 100 items go unfound </a:t>
            </a:r>
            <a:r>
              <a:rPr lang="en-US" sz="1800" dirty="0">
                <a:solidFill>
                  <a:schemeClr val="bg1"/>
                </a:solidFill>
              </a:rPr>
              <a:t>which shows us that a single uniform strategy solution is unlikely going to help all stores across cities be successful. </a:t>
            </a:r>
          </a:p>
          <a:p>
            <a:r>
              <a:rPr lang="en-US" sz="1800" dirty="0">
                <a:solidFill>
                  <a:schemeClr val="bg1"/>
                </a:solidFill>
              </a:rPr>
              <a:t>Our key focus here should be that we improve customer experience by a tailored approach that will also help in reduced cancellations of orders.</a:t>
            </a:r>
          </a:p>
          <a:p>
            <a:pPr marL="0" indent="0">
              <a:buNone/>
            </a:pPr>
            <a:r>
              <a:rPr lang="en-US" sz="1800" b="1" i="1" dirty="0">
                <a:solidFill>
                  <a:schemeClr val="bg1"/>
                </a:solidFill>
              </a:rPr>
              <a:t>Solution: </a:t>
            </a:r>
            <a:r>
              <a:rPr lang="en-US" sz="1800" dirty="0">
                <a:solidFill>
                  <a:schemeClr val="bg1"/>
                </a:solidFill>
              </a:rPr>
              <a:t>Tighten the low-stock rules for the underperforming regions/stores &amp; set an achievement target for next 30 – 40 days( We could keep small targets </a:t>
            </a:r>
            <a:r>
              <a:rPr lang="en-US" sz="1800" dirty="0" err="1">
                <a:solidFill>
                  <a:schemeClr val="bg1"/>
                </a:solidFill>
              </a:rPr>
              <a:t>eg</a:t>
            </a:r>
            <a:r>
              <a:rPr lang="en-US" sz="1800" dirty="0">
                <a:solidFill>
                  <a:schemeClr val="bg1"/>
                </a:solidFill>
              </a:rPr>
              <a:t> : Found Rate &gt; 90% or Gap between stores &lt; ~8-10%)</a:t>
            </a:r>
            <a:endParaRPr lang="en-US" sz="1800" b="1" i="1" dirty="0">
              <a:solidFill>
                <a:schemeClr val="bg1"/>
              </a:solidFill>
            </a:endParaRPr>
          </a:p>
          <a:p>
            <a:r>
              <a:rPr lang="en-US" sz="1800" b="1" dirty="0">
                <a:solidFill>
                  <a:schemeClr val="bg1"/>
                </a:solidFill>
              </a:rPr>
              <a:t>Correlation between Fulfillment vs Assortment </a:t>
            </a:r>
            <a:r>
              <a:rPr lang="en-US" sz="1800" dirty="0">
                <a:solidFill>
                  <a:schemeClr val="bg1"/>
                </a:solidFill>
              </a:rPr>
              <a:t>gives us a clear story about the correlation pattern &amp; it is observed that stores with lower % Out of Stock have higher % Available &amp; higher Found Rate too. </a:t>
            </a:r>
          </a:p>
          <a:p>
            <a:r>
              <a:rPr lang="en-US" sz="1800" dirty="0">
                <a:solidFill>
                  <a:schemeClr val="bg1"/>
                </a:solidFill>
              </a:rPr>
              <a:t>The average unfulfilled items per order pinpoints hot spots—especially </a:t>
            </a:r>
            <a:r>
              <a:rPr lang="en-US" sz="1800" b="1" dirty="0" err="1">
                <a:solidFill>
                  <a:schemeClr val="bg1"/>
                </a:solidFill>
              </a:rPr>
              <a:t>Unimarc</a:t>
            </a:r>
            <a:r>
              <a:rPr lang="en-US" sz="1800" b="1" dirty="0">
                <a:solidFill>
                  <a:schemeClr val="bg1"/>
                </a:solidFill>
              </a:rPr>
              <a:t> – Valparaíso </a:t>
            </a:r>
            <a:r>
              <a:rPr lang="en-US" sz="1800" dirty="0">
                <a:solidFill>
                  <a:schemeClr val="bg1"/>
                </a:solidFill>
              </a:rPr>
              <a:t>and </a:t>
            </a:r>
            <a:r>
              <a:rPr lang="en-US" sz="1800" b="1" dirty="0">
                <a:solidFill>
                  <a:schemeClr val="bg1"/>
                </a:solidFill>
              </a:rPr>
              <a:t>Jumbo – La Serena </a:t>
            </a:r>
            <a:r>
              <a:rPr lang="en-US" sz="1800" dirty="0">
                <a:solidFill>
                  <a:schemeClr val="bg1"/>
                </a:solidFill>
              </a:rPr>
              <a:t>— where orders can’t be fulfilled and cancellations risk spikes. </a:t>
            </a:r>
            <a:r>
              <a:rPr lang="en-US" sz="1800" b="1" dirty="0">
                <a:solidFill>
                  <a:schemeClr val="bg1"/>
                </a:solidFill>
              </a:rPr>
              <a:t>(</a:t>
            </a:r>
            <a:r>
              <a:rPr lang="en-US" sz="1800" b="1" dirty="0" err="1">
                <a:solidFill>
                  <a:schemeClr val="bg1"/>
                </a:solidFill>
              </a:rPr>
              <a:t>qty_products_found</a:t>
            </a:r>
            <a:r>
              <a:rPr lang="en-US" sz="1800" b="1" dirty="0">
                <a:solidFill>
                  <a:schemeClr val="bg1"/>
                </a:solidFill>
              </a:rPr>
              <a:t> &lt; </a:t>
            </a:r>
            <a:r>
              <a:rPr lang="en-US" sz="1800" b="1" dirty="0" err="1">
                <a:solidFill>
                  <a:schemeClr val="bg1"/>
                </a:solidFill>
              </a:rPr>
              <a:t>qty_products_ordered</a:t>
            </a:r>
            <a:r>
              <a:rPr lang="en-US" sz="1800" b="1" dirty="0">
                <a:solidFill>
                  <a:schemeClr val="bg1"/>
                </a:solidFill>
              </a:rPr>
              <a:t>)</a:t>
            </a:r>
          </a:p>
          <a:p>
            <a:endParaRPr lang="en-US" sz="1800" dirty="0">
              <a:solidFill>
                <a:schemeClr val="bg1"/>
              </a:solidFill>
            </a:endParaRPr>
          </a:p>
          <a:p>
            <a:endParaRPr lang="en-US" sz="1800" dirty="0">
              <a:solidFill>
                <a:schemeClr val="bg1"/>
              </a:solidFill>
            </a:endParaRPr>
          </a:p>
          <a:p>
            <a:pPr marL="0" indent="0">
              <a:buNone/>
            </a:pPr>
            <a:endParaRPr lang="en-US" sz="1800" dirty="0">
              <a:solidFill>
                <a:schemeClr val="bg1"/>
              </a:solidFill>
            </a:endParaRPr>
          </a:p>
          <a:p>
            <a:pPr marL="0" indent="0">
              <a:buNone/>
            </a:pPr>
            <a:endParaRPr lang="en-US" sz="1800" i="1" dirty="0">
              <a:solidFill>
                <a:schemeClr val="bg1"/>
              </a:solidFill>
            </a:endParaRPr>
          </a:p>
          <a:p>
            <a:pPr marL="0" indent="0">
              <a:buNone/>
            </a:pPr>
            <a:endParaRPr lang="en-US" i="1" dirty="0">
              <a:solidFill>
                <a:schemeClr val="bg1"/>
              </a:solidFill>
            </a:endParaRPr>
          </a:p>
          <a:p>
            <a:pPr marL="0" indent="0">
              <a:buNone/>
            </a:pPr>
            <a:endParaRPr lang="en-US" i="1" dirty="0">
              <a:solidFill>
                <a:schemeClr val="bg1"/>
              </a:solidFill>
            </a:endParaRPr>
          </a:p>
          <a:p>
            <a:pPr marL="0" indent="0">
              <a:buNone/>
            </a:pPr>
            <a:endParaRPr lang="en-US" i="1" dirty="0">
              <a:solidFill>
                <a:schemeClr val="bg1"/>
              </a:solidFill>
            </a:endParaRPr>
          </a:p>
        </p:txBody>
      </p:sp>
    </p:spTree>
    <p:extLst>
      <p:ext uri="{BB962C8B-B14F-4D97-AF65-F5344CB8AC3E}">
        <p14:creationId xmlns:p14="http://schemas.microsoft.com/office/powerpoint/2010/main" val="3147031427"/>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7C7F058-565B-8E21-9287-4B5CB3B1C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42124-4987-8795-D0D3-92FAC88D5211}"/>
              </a:ext>
            </a:extLst>
          </p:cNvPr>
          <p:cNvSpPr>
            <a:spLocks noGrp="1"/>
          </p:cNvSpPr>
          <p:nvPr>
            <p:ph type="title"/>
          </p:nvPr>
        </p:nvSpPr>
        <p:spPr>
          <a:xfrm>
            <a:off x="455811" y="230590"/>
            <a:ext cx="9020697" cy="647199"/>
          </a:xfrm>
        </p:spPr>
        <p:txBody>
          <a:bodyPr>
            <a:noAutofit/>
          </a:bodyPr>
          <a:lstStyle/>
          <a:p>
            <a:pPr algn="r"/>
            <a:r>
              <a:rPr lang="en-US" sz="4000" b="1" dirty="0">
                <a:solidFill>
                  <a:schemeClr val="bg1"/>
                </a:solidFill>
              </a:rPr>
              <a:t>Analyzing the stores performance contd.</a:t>
            </a:r>
          </a:p>
        </p:txBody>
      </p:sp>
      <p:sp>
        <p:nvSpPr>
          <p:cNvPr id="3" name="Content Placeholder 2">
            <a:extLst>
              <a:ext uri="{FF2B5EF4-FFF2-40B4-BE49-F238E27FC236}">
                <a16:creationId xmlns:a16="http://schemas.microsoft.com/office/drawing/2014/main" id="{3ECC6558-DDD6-939B-B026-C2143E409843}"/>
              </a:ext>
            </a:extLst>
          </p:cNvPr>
          <p:cNvSpPr>
            <a:spLocks noGrp="1"/>
          </p:cNvSpPr>
          <p:nvPr>
            <p:ph idx="1"/>
          </p:nvPr>
        </p:nvSpPr>
        <p:spPr>
          <a:xfrm>
            <a:off x="455811" y="996539"/>
            <a:ext cx="11280378" cy="5238006"/>
          </a:xfrm>
        </p:spPr>
        <p:txBody>
          <a:bodyPr>
            <a:noAutofit/>
          </a:bodyPr>
          <a:lstStyle/>
          <a:p>
            <a:pPr marL="0" indent="0">
              <a:buNone/>
            </a:pPr>
            <a:r>
              <a:rPr lang="en-US" sz="1800" b="1" i="1" dirty="0">
                <a:solidFill>
                  <a:schemeClr val="bg1"/>
                </a:solidFill>
              </a:rPr>
              <a:t>Question 1: </a:t>
            </a:r>
            <a:r>
              <a:rPr lang="en-US" sz="1800" dirty="0">
                <a:solidFill>
                  <a:schemeClr val="bg1"/>
                </a:solidFill>
              </a:rPr>
              <a:t>How are the stores performing in terms of order fulfillment &amp; catalog assortment? (June 2023)</a:t>
            </a:r>
          </a:p>
          <a:p>
            <a:r>
              <a:rPr lang="en-US" sz="1800" dirty="0">
                <a:solidFill>
                  <a:schemeClr val="bg1"/>
                </a:solidFill>
              </a:rPr>
              <a:t>In June, </a:t>
            </a:r>
            <a:r>
              <a:rPr lang="en-US" sz="1800" b="1" dirty="0" err="1">
                <a:solidFill>
                  <a:schemeClr val="bg1"/>
                </a:solidFill>
              </a:rPr>
              <a:t>Unimarc</a:t>
            </a:r>
            <a:r>
              <a:rPr lang="en-US" sz="1800" b="1" dirty="0">
                <a:solidFill>
                  <a:schemeClr val="bg1"/>
                </a:solidFill>
              </a:rPr>
              <a:t>–Valparaíso </a:t>
            </a:r>
            <a:r>
              <a:rPr lang="en-US" sz="1800" dirty="0">
                <a:solidFill>
                  <a:schemeClr val="bg1"/>
                </a:solidFill>
              </a:rPr>
              <a:t>averaged </a:t>
            </a:r>
            <a:r>
              <a:rPr lang="en-US" sz="1800" b="1" dirty="0">
                <a:solidFill>
                  <a:schemeClr val="bg1"/>
                </a:solidFill>
              </a:rPr>
              <a:t>2.87 missing items per order </a:t>
            </a:r>
            <a:r>
              <a:rPr lang="en-US" sz="1800" dirty="0">
                <a:solidFill>
                  <a:schemeClr val="bg1"/>
                </a:solidFill>
              </a:rPr>
              <a:t>and </a:t>
            </a:r>
            <a:r>
              <a:rPr lang="en-US" sz="1800" b="1" dirty="0">
                <a:solidFill>
                  <a:schemeClr val="bg1"/>
                </a:solidFill>
              </a:rPr>
              <a:t>Jumbo–La Serena 2.73</a:t>
            </a:r>
            <a:r>
              <a:rPr lang="en-US" sz="1800" dirty="0">
                <a:solidFill>
                  <a:schemeClr val="bg1"/>
                </a:solidFill>
              </a:rPr>
              <a:t>—among the highest in the network—mirroring their lower Found Rates and pointing to frequent incomplete orders and higher cancellation risk.</a:t>
            </a:r>
          </a:p>
          <a:p>
            <a:r>
              <a:rPr lang="en-US" sz="1800" dirty="0">
                <a:solidFill>
                  <a:schemeClr val="bg1"/>
                </a:solidFill>
              </a:rPr>
              <a:t>Therefore, we can say that a 1% increase in Found Rate could lead to a measurable increase in customer retention, which we know is a key driver of Customer Satisfaction.</a:t>
            </a:r>
          </a:p>
          <a:p>
            <a:endParaRPr lang="en-US" sz="1800" dirty="0">
              <a:solidFill>
                <a:schemeClr val="bg1"/>
              </a:solidFill>
            </a:endParaRPr>
          </a:p>
          <a:p>
            <a:pPr marL="0" indent="0">
              <a:buNone/>
            </a:pPr>
            <a:r>
              <a:rPr lang="en-US" sz="1800" b="1" i="1" dirty="0">
                <a:solidFill>
                  <a:schemeClr val="bg1"/>
                </a:solidFill>
              </a:rPr>
              <a:t>Assumptions:</a:t>
            </a:r>
          </a:p>
          <a:p>
            <a:r>
              <a:rPr lang="en-US" sz="1800" b="1" i="1" dirty="0">
                <a:solidFill>
                  <a:schemeClr val="bg1"/>
                </a:solidFill>
              </a:rPr>
              <a:t>Low performing stores could be using low-stock thresholds which could lower availability.</a:t>
            </a:r>
          </a:p>
          <a:p>
            <a:r>
              <a:rPr lang="en-US" sz="1800" b="1" i="1" dirty="0">
                <a:solidFill>
                  <a:schemeClr val="bg1"/>
                </a:solidFill>
              </a:rPr>
              <a:t>The problems could be majorly due to catalog inefficiency rather than customer demands.</a:t>
            </a:r>
          </a:p>
          <a:p>
            <a:r>
              <a:rPr lang="en-US" sz="1800" b="1" i="1" dirty="0">
                <a:solidFill>
                  <a:schemeClr val="bg1"/>
                </a:solidFill>
              </a:rPr>
              <a:t>Using existing inventory, we should try to improve first &amp; then add more supply into the system. That could help us save on cost.</a:t>
            </a:r>
          </a:p>
          <a:p>
            <a:endParaRPr lang="en-US" sz="1800" dirty="0">
              <a:solidFill>
                <a:schemeClr val="bg1"/>
              </a:solidFill>
            </a:endParaRPr>
          </a:p>
          <a:p>
            <a:pPr marL="0" indent="0">
              <a:buNone/>
            </a:pPr>
            <a:endParaRPr lang="en-US" sz="1800" dirty="0">
              <a:solidFill>
                <a:schemeClr val="bg1"/>
              </a:solidFill>
            </a:endParaRPr>
          </a:p>
          <a:p>
            <a:pPr marL="0" indent="0">
              <a:buNone/>
            </a:pPr>
            <a:endParaRPr lang="en-US" sz="1800" i="1" dirty="0">
              <a:solidFill>
                <a:schemeClr val="bg1"/>
              </a:solidFill>
            </a:endParaRPr>
          </a:p>
          <a:p>
            <a:pPr marL="0" indent="0">
              <a:buNone/>
            </a:pPr>
            <a:endParaRPr lang="en-US" sz="2400" i="1" dirty="0">
              <a:solidFill>
                <a:schemeClr val="bg1"/>
              </a:solidFill>
            </a:endParaRPr>
          </a:p>
          <a:p>
            <a:pPr marL="0" indent="0">
              <a:buNone/>
            </a:pPr>
            <a:endParaRPr lang="en-US" sz="2400" i="1" dirty="0">
              <a:solidFill>
                <a:schemeClr val="bg1"/>
              </a:solidFill>
            </a:endParaRPr>
          </a:p>
          <a:p>
            <a:pPr marL="0" indent="0">
              <a:buNone/>
            </a:pPr>
            <a:endParaRPr lang="en-US" sz="2400" i="1" dirty="0">
              <a:solidFill>
                <a:schemeClr val="bg1"/>
              </a:solidFill>
            </a:endParaRPr>
          </a:p>
        </p:txBody>
      </p:sp>
    </p:spTree>
    <p:extLst>
      <p:ext uri="{BB962C8B-B14F-4D97-AF65-F5344CB8AC3E}">
        <p14:creationId xmlns:p14="http://schemas.microsoft.com/office/powerpoint/2010/main" val="3782465183"/>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EF2F20DD-9245-8ADD-8CC4-A6497D513F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9CB5C4-1E95-6692-5B4B-38AF921C42AE}"/>
              </a:ext>
            </a:extLst>
          </p:cNvPr>
          <p:cNvSpPr>
            <a:spLocks noGrp="1"/>
          </p:cNvSpPr>
          <p:nvPr>
            <p:ph type="title"/>
          </p:nvPr>
        </p:nvSpPr>
        <p:spPr>
          <a:xfrm>
            <a:off x="455811" y="230590"/>
            <a:ext cx="9020697" cy="647199"/>
          </a:xfrm>
        </p:spPr>
        <p:txBody>
          <a:bodyPr>
            <a:noAutofit/>
          </a:bodyPr>
          <a:lstStyle/>
          <a:p>
            <a:pPr algn="r"/>
            <a:r>
              <a:rPr lang="en-US" sz="4000" b="1" dirty="0">
                <a:solidFill>
                  <a:schemeClr val="bg1"/>
                </a:solidFill>
              </a:rPr>
              <a:t>Analyzing the stores performance contd.</a:t>
            </a:r>
          </a:p>
        </p:txBody>
      </p:sp>
      <p:sp>
        <p:nvSpPr>
          <p:cNvPr id="3" name="Content Placeholder 2">
            <a:extLst>
              <a:ext uri="{FF2B5EF4-FFF2-40B4-BE49-F238E27FC236}">
                <a16:creationId xmlns:a16="http://schemas.microsoft.com/office/drawing/2014/main" id="{FC971337-A33C-6413-4880-8FB49FAC1C11}"/>
              </a:ext>
            </a:extLst>
          </p:cNvPr>
          <p:cNvSpPr>
            <a:spLocks noGrp="1"/>
          </p:cNvSpPr>
          <p:nvPr>
            <p:ph idx="1"/>
          </p:nvPr>
        </p:nvSpPr>
        <p:spPr>
          <a:xfrm>
            <a:off x="455811" y="996539"/>
            <a:ext cx="11280378" cy="5238006"/>
          </a:xfrm>
        </p:spPr>
        <p:txBody>
          <a:bodyPr>
            <a:noAutofit/>
          </a:bodyPr>
          <a:lstStyle/>
          <a:p>
            <a:pPr marL="0" indent="0">
              <a:buNone/>
            </a:pPr>
            <a:r>
              <a:rPr lang="en-US" sz="1800" b="1" i="1" dirty="0">
                <a:solidFill>
                  <a:schemeClr val="bg1"/>
                </a:solidFill>
              </a:rPr>
              <a:t>Question 1: </a:t>
            </a:r>
            <a:r>
              <a:rPr lang="en-US" sz="1800" dirty="0">
                <a:solidFill>
                  <a:schemeClr val="bg1"/>
                </a:solidFill>
              </a:rPr>
              <a:t>How are the stores performing in terms of order fulfillment &amp; catalog assortment? (June 2023)</a:t>
            </a:r>
          </a:p>
          <a:p>
            <a:pPr marL="0" indent="0">
              <a:buNone/>
            </a:pPr>
            <a:r>
              <a:rPr lang="en-US" sz="1800" b="1" i="1" dirty="0">
                <a:solidFill>
                  <a:schemeClr val="bg1"/>
                </a:solidFill>
              </a:rPr>
              <a:t>Insight based on Table data: </a:t>
            </a:r>
          </a:p>
          <a:p>
            <a:pPr marL="0" indent="0">
              <a:buNone/>
            </a:pPr>
            <a:endParaRPr lang="en-US" sz="1800" dirty="0">
              <a:solidFill>
                <a:schemeClr val="bg1"/>
              </a:solidFill>
            </a:endParaRPr>
          </a:p>
          <a:p>
            <a:pPr marL="0" indent="0">
              <a:buNone/>
            </a:pPr>
            <a:endParaRPr lang="en-US" sz="1800" dirty="0">
              <a:solidFill>
                <a:schemeClr val="bg1"/>
              </a:solidFill>
            </a:endParaRPr>
          </a:p>
          <a:p>
            <a:pPr marL="0" indent="0">
              <a:buNone/>
            </a:pPr>
            <a:endParaRPr lang="en-US" sz="1800" i="1" dirty="0">
              <a:solidFill>
                <a:schemeClr val="bg1"/>
              </a:solidFill>
            </a:endParaRPr>
          </a:p>
          <a:p>
            <a:pPr marL="0" indent="0">
              <a:buNone/>
            </a:pPr>
            <a:endParaRPr lang="en-US" sz="2400" i="1" dirty="0">
              <a:solidFill>
                <a:schemeClr val="bg1"/>
              </a:solidFill>
            </a:endParaRPr>
          </a:p>
          <a:p>
            <a:pPr marL="0" indent="0">
              <a:buNone/>
            </a:pPr>
            <a:endParaRPr lang="en-US" sz="2400" i="1" dirty="0">
              <a:solidFill>
                <a:schemeClr val="bg1"/>
              </a:solidFill>
            </a:endParaRPr>
          </a:p>
          <a:p>
            <a:pPr marL="0" indent="0">
              <a:buNone/>
            </a:pPr>
            <a:endParaRPr lang="en-US" sz="2400" i="1" dirty="0">
              <a:solidFill>
                <a:schemeClr val="bg1"/>
              </a:solidFill>
            </a:endParaRPr>
          </a:p>
        </p:txBody>
      </p:sp>
      <p:graphicFrame>
        <p:nvGraphicFramePr>
          <p:cNvPr id="6" name="Table 5">
            <a:extLst>
              <a:ext uri="{FF2B5EF4-FFF2-40B4-BE49-F238E27FC236}">
                <a16:creationId xmlns:a16="http://schemas.microsoft.com/office/drawing/2014/main" id="{A53BAA80-47A0-604B-1F04-9312A0E02E42}"/>
              </a:ext>
            </a:extLst>
          </p:cNvPr>
          <p:cNvGraphicFramePr>
            <a:graphicFrameLocks noGrp="1"/>
          </p:cNvGraphicFramePr>
          <p:nvPr>
            <p:extLst>
              <p:ext uri="{D42A27DB-BD31-4B8C-83A1-F6EECF244321}">
                <p14:modId xmlns:p14="http://schemas.microsoft.com/office/powerpoint/2010/main" val="2021632537"/>
              </p:ext>
            </p:extLst>
          </p:nvPr>
        </p:nvGraphicFramePr>
        <p:xfrm>
          <a:off x="3608189" y="1681567"/>
          <a:ext cx="8128000" cy="4470400"/>
        </p:xfrm>
        <a:graphic>
          <a:graphicData uri="http://schemas.openxmlformats.org/drawingml/2006/table">
            <a:tbl>
              <a:tblPr firstRow="1" bandRow="1">
                <a:tableStyleId>{073A0DAA-6AF3-43AB-8588-CEC1D06C72B9}</a:tableStyleId>
              </a:tblPr>
              <a:tblGrid>
                <a:gridCol w="1625600">
                  <a:extLst>
                    <a:ext uri="{9D8B030D-6E8A-4147-A177-3AD203B41FA5}">
                      <a16:colId xmlns:a16="http://schemas.microsoft.com/office/drawing/2014/main" val="2931931770"/>
                    </a:ext>
                  </a:extLst>
                </a:gridCol>
                <a:gridCol w="1625600">
                  <a:extLst>
                    <a:ext uri="{9D8B030D-6E8A-4147-A177-3AD203B41FA5}">
                      <a16:colId xmlns:a16="http://schemas.microsoft.com/office/drawing/2014/main" val="1481064024"/>
                    </a:ext>
                  </a:extLst>
                </a:gridCol>
                <a:gridCol w="1625600">
                  <a:extLst>
                    <a:ext uri="{9D8B030D-6E8A-4147-A177-3AD203B41FA5}">
                      <a16:colId xmlns:a16="http://schemas.microsoft.com/office/drawing/2014/main" val="3087423912"/>
                    </a:ext>
                  </a:extLst>
                </a:gridCol>
                <a:gridCol w="1625600">
                  <a:extLst>
                    <a:ext uri="{9D8B030D-6E8A-4147-A177-3AD203B41FA5}">
                      <a16:colId xmlns:a16="http://schemas.microsoft.com/office/drawing/2014/main" val="1235835111"/>
                    </a:ext>
                  </a:extLst>
                </a:gridCol>
                <a:gridCol w="1625600">
                  <a:extLst>
                    <a:ext uri="{9D8B030D-6E8A-4147-A177-3AD203B41FA5}">
                      <a16:colId xmlns:a16="http://schemas.microsoft.com/office/drawing/2014/main" val="2167905267"/>
                    </a:ext>
                  </a:extLst>
                </a:gridCol>
              </a:tblGrid>
              <a:tr h="370840">
                <a:tc>
                  <a:txBody>
                    <a:bodyPr/>
                    <a:lstStyle/>
                    <a:p>
                      <a:pPr algn="ctr">
                        <a:buNone/>
                      </a:pPr>
                      <a:r>
                        <a:rPr lang="en-US" b="1" dirty="0">
                          <a:solidFill>
                            <a:schemeClr val="tx1"/>
                          </a:solidFill>
                          <a:effectLst/>
                        </a:rPr>
                        <a:t>Store brand</a:t>
                      </a:r>
                      <a:endParaRPr lang="en-US" dirty="0">
                        <a:solidFill>
                          <a:schemeClr val="tx1"/>
                        </a:solidFill>
                        <a:effectLst/>
                      </a:endParaRPr>
                    </a:p>
                  </a:txBody>
                  <a:tcPr marL="38100" marR="38100" marT="38100" marB="38100"/>
                </a:tc>
                <a:tc>
                  <a:txBody>
                    <a:bodyPr/>
                    <a:lstStyle/>
                    <a:p>
                      <a:pPr algn="ctr">
                        <a:buNone/>
                      </a:pPr>
                      <a:r>
                        <a:rPr lang="en-US" b="1" dirty="0">
                          <a:solidFill>
                            <a:schemeClr val="tx1"/>
                          </a:solidFill>
                          <a:effectLst/>
                        </a:rPr>
                        <a:t>Geo_city</a:t>
                      </a:r>
                      <a:endParaRPr lang="en-US" dirty="0">
                        <a:solidFill>
                          <a:schemeClr val="tx1"/>
                        </a:solidFill>
                        <a:effectLst/>
                      </a:endParaRPr>
                    </a:p>
                  </a:txBody>
                  <a:tcPr marL="38100" marR="38100" marT="38100" marB="38100"/>
                </a:tc>
                <a:tc>
                  <a:txBody>
                    <a:bodyPr/>
                    <a:lstStyle/>
                    <a:p>
                      <a:pPr algn="ctr">
                        <a:buNone/>
                      </a:pPr>
                      <a:r>
                        <a:rPr lang="en-US" b="1" dirty="0">
                          <a:solidFill>
                            <a:schemeClr val="tx1"/>
                          </a:solidFill>
                          <a:effectLst/>
                        </a:rPr>
                        <a:t>Found Rate %</a:t>
                      </a:r>
                      <a:endParaRPr lang="en-US" dirty="0">
                        <a:solidFill>
                          <a:schemeClr val="tx1"/>
                        </a:solidFill>
                        <a:effectLst/>
                      </a:endParaRPr>
                    </a:p>
                  </a:txBody>
                  <a:tcPr marL="38100" marR="38100" marT="38100" marB="38100"/>
                </a:tc>
                <a:tc>
                  <a:txBody>
                    <a:bodyPr/>
                    <a:lstStyle/>
                    <a:p>
                      <a:pPr algn="ctr">
                        <a:buNone/>
                      </a:pPr>
                      <a:r>
                        <a:rPr lang="en-US" b="1" dirty="0">
                          <a:solidFill>
                            <a:schemeClr val="tx1"/>
                          </a:solidFill>
                          <a:effectLst/>
                        </a:rPr>
                        <a:t>OOS %</a:t>
                      </a:r>
                      <a:endParaRPr lang="en-US" dirty="0">
                        <a:solidFill>
                          <a:schemeClr val="tx1"/>
                        </a:solidFill>
                        <a:effectLst/>
                      </a:endParaRPr>
                    </a:p>
                  </a:txBody>
                  <a:tcPr marL="38100" marR="38100" marT="38100" marB="38100"/>
                </a:tc>
                <a:tc>
                  <a:txBody>
                    <a:bodyPr/>
                    <a:lstStyle/>
                    <a:p>
                      <a:pPr algn="ctr">
                        <a:buNone/>
                      </a:pPr>
                      <a:r>
                        <a:rPr lang="en-US" b="1" dirty="0">
                          <a:solidFill>
                            <a:schemeClr val="tx1"/>
                          </a:solidFill>
                          <a:effectLst/>
                        </a:rPr>
                        <a:t>Available %</a:t>
                      </a:r>
                      <a:endParaRPr lang="en-US" dirty="0">
                        <a:solidFill>
                          <a:schemeClr val="tx1"/>
                        </a:solidFill>
                        <a:effectLst/>
                      </a:endParaRPr>
                    </a:p>
                  </a:txBody>
                  <a:tcPr marL="38100" marR="38100" marT="38100" marB="38100"/>
                </a:tc>
                <a:extLst>
                  <a:ext uri="{0D108BD9-81ED-4DB2-BD59-A6C34878D82A}">
                    <a16:rowId xmlns:a16="http://schemas.microsoft.com/office/drawing/2014/main" val="1122692994"/>
                  </a:ext>
                </a:extLst>
              </a:tr>
              <a:tr h="370840">
                <a:tc>
                  <a:txBody>
                    <a:bodyPr/>
                    <a:lstStyle/>
                    <a:p>
                      <a:pPr algn="ctr">
                        <a:buNone/>
                      </a:pPr>
                      <a:r>
                        <a:rPr lang="en-US" b="1" dirty="0" err="1">
                          <a:solidFill>
                            <a:srgbClr val="000000"/>
                          </a:solidFill>
                          <a:effectLst/>
                        </a:rPr>
                        <a:t>Farmacias</a:t>
                      </a:r>
                      <a:r>
                        <a:rPr lang="en-US" b="1" dirty="0">
                          <a:solidFill>
                            <a:srgbClr val="000000"/>
                          </a:solidFill>
                          <a:effectLst/>
                        </a:rPr>
                        <a:t> Ahumada</a:t>
                      </a:r>
                      <a:endParaRPr lang="en-US" dirty="0">
                        <a:effectLst/>
                      </a:endParaRPr>
                    </a:p>
                  </a:txBody>
                  <a:tcPr marL="38100" marR="38100" marT="38100" marB="38100"/>
                </a:tc>
                <a:tc>
                  <a:txBody>
                    <a:bodyPr/>
                    <a:lstStyle/>
                    <a:p>
                      <a:pPr algn="ctr">
                        <a:buNone/>
                      </a:pPr>
                      <a:r>
                        <a:rPr lang="en-US" dirty="0">
                          <a:solidFill>
                            <a:srgbClr val="000000"/>
                          </a:solidFill>
                          <a:effectLst/>
                        </a:rPr>
                        <a:t>Valparaiso</a:t>
                      </a:r>
                      <a:endParaRPr lang="en-US" dirty="0">
                        <a:effectLst/>
                      </a:endParaRPr>
                    </a:p>
                  </a:txBody>
                  <a:tcPr marL="38100" marR="38100" marT="38100" marB="38100"/>
                </a:tc>
                <a:tc>
                  <a:txBody>
                    <a:bodyPr/>
                    <a:lstStyle/>
                    <a:p>
                      <a:pPr algn="ctr">
                        <a:buNone/>
                      </a:pPr>
                      <a:r>
                        <a:rPr lang="en-US" dirty="0">
                          <a:solidFill>
                            <a:srgbClr val="000000"/>
                          </a:solidFill>
                          <a:effectLst/>
                        </a:rPr>
                        <a:t>96.67</a:t>
                      </a:r>
                      <a:endParaRPr lang="en-US" dirty="0">
                        <a:effectLst/>
                      </a:endParaRPr>
                    </a:p>
                  </a:txBody>
                  <a:tcPr marL="38100" marR="38100" marT="38100" marB="38100"/>
                </a:tc>
                <a:tc>
                  <a:txBody>
                    <a:bodyPr/>
                    <a:lstStyle/>
                    <a:p>
                      <a:pPr algn="ctr">
                        <a:buNone/>
                      </a:pPr>
                      <a:r>
                        <a:rPr lang="en-US" dirty="0">
                          <a:solidFill>
                            <a:srgbClr val="000000"/>
                          </a:solidFill>
                          <a:effectLst/>
                        </a:rPr>
                        <a:t>1.20</a:t>
                      </a:r>
                      <a:endParaRPr lang="en-US" dirty="0">
                        <a:effectLst/>
                      </a:endParaRPr>
                    </a:p>
                  </a:txBody>
                  <a:tcPr marL="38100" marR="38100" marT="38100" marB="38100"/>
                </a:tc>
                <a:tc>
                  <a:txBody>
                    <a:bodyPr/>
                    <a:lstStyle/>
                    <a:p>
                      <a:pPr algn="ctr">
                        <a:buNone/>
                      </a:pPr>
                      <a:r>
                        <a:rPr lang="en-US" dirty="0">
                          <a:solidFill>
                            <a:srgbClr val="000000"/>
                          </a:solidFill>
                          <a:effectLst/>
                        </a:rPr>
                        <a:t>98.80</a:t>
                      </a:r>
                      <a:endParaRPr lang="en-US" dirty="0">
                        <a:effectLst/>
                      </a:endParaRPr>
                    </a:p>
                  </a:txBody>
                  <a:tcPr marL="38100" marR="38100" marT="38100" marB="38100"/>
                </a:tc>
                <a:extLst>
                  <a:ext uri="{0D108BD9-81ED-4DB2-BD59-A6C34878D82A}">
                    <a16:rowId xmlns:a16="http://schemas.microsoft.com/office/drawing/2014/main" val="852691709"/>
                  </a:ext>
                </a:extLst>
              </a:tr>
              <a:tr h="370840">
                <a:tc>
                  <a:txBody>
                    <a:bodyPr/>
                    <a:lstStyle/>
                    <a:p>
                      <a:pPr algn="ctr">
                        <a:buNone/>
                      </a:pPr>
                      <a:r>
                        <a:rPr lang="en-US" b="1">
                          <a:solidFill>
                            <a:srgbClr val="000000"/>
                          </a:solidFill>
                          <a:effectLst/>
                        </a:rPr>
                        <a:t>Farmacias Ahumada</a:t>
                      </a:r>
                      <a:endParaRPr lang="en-US">
                        <a:effectLst/>
                      </a:endParaRPr>
                    </a:p>
                  </a:txBody>
                  <a:tcPr marL="38100" marR="38100" marT="38100" marB="38100"/>
                </a:tc>
                <a:tc>
                  <a:txBody>
                    <a:bodyPr/>
                    <a:lstStyle/>
                    <a:p>
                      <a:pPr algn="ctr">
                        <a:buNone/>
                      </a:pPr>
                      <a:r>
                        <a:rPr lang="en-US">
                          <a:solidFill>
                            <a:srgbClr val="000000"/>
                          </a:solidFill>
                          <a:effectLst/>
                        </a:rPr>
                        <a:t>La Serena</a:t>
                      </a:r>
                      <a:endParaRPr lang="en-US">
                        <a:effectLst/>
                      </a:endParaRPr>
                    </a:p>
                  </a:txBody>
                  <a:tcPr marL="38100" marR="38100" marT="38100" marB="38100"/>
                </a:tc>
                <a:tc>
                  <a:txBody>
                    <a:bodyPr/>
                    <a:lstStyle/>
                    <a:p>
                      <a:pPr algn="ctr">
                        <a:buNone/>
                      </a:pPr>
                      <a:r>
                        <a:rPr lang="en-US">
                          <a:solidFill>
                            <a:srgbClr val="000000"/>
                          </a:solidFill>
                          <a:effectLst/>
                        </a:rPr>
                        <a:t>92.50</a:t>
                      </a:r>
                      <a:endParaRPr lang="en-US">
                        <a:effectLst/>
                      </a:endParaRPr>
                    </a:p>
                  </a:txBody>
                  <a:tcPr marL="38100" marR="38100" marT="38100" marB="38100"/>
                </a:tc>
                <a:tc>
                  <a:txBody>
                    <a:bodyPr/>
                    <a:lstStyle/>
                    <a:p>
                      <a:pPr algn="ctr">
                        <a:buNone/>
                      </a:pPr>
                      <a:r>
                        <a:rPr lang="en-US">
                          <a:solidFill>
                            <a:srgbClr val="000000"/>
                          </a:solidFill>
                          <a:effectLst/>
                        </a:rPr>
                        <a:t>0.66</a:t>
                      </a:r>
                      <a:endParaRPr lang="en-US">
                        <a:effectLst/>
                      </a:endParaRPr>
                    </a:p>
                  </a:txBody>
                  <a:tcPr marL="38100" marR="38100" marT="38100" marB="38100"/>
                </a:tc>
                <a:tc>
                  <a:txBody>
                    <a:bodyPr/>
                    <a:lstStyle/>
                    <a:p>
                      <a:pPr algn="ctr">
                        <a:buNone/>
                      </a:pPr>
                      <a:r>
                        <a:rPr lang="en-US" dirty="0">
                          <a:solidFill>
                            <a:srgbClr val="000000"/>
                          </a:solidFill>
                          <a:effectLst/>
                        </a:rPr>
                        <a:t>99.34</a:t>
                      </a:r>
                      <a:endParaRPr lang="en-US" dirty="0">
                        <a:effectLst/>
                      </a:endParaRPr>
                    </a:p>
                  </a:txBody>
                  <a:tcPr marL="38100" marR="38100" marT="38100" marB="38100"/>
                </a:tc>
                <a:extLst>
                  <a:ext uri="{0D108BD9-81ED-4DB2-BD59-A6C34878D82A}">
                    <a16:rowId xmlns:a16="http://schemas.microsoft.com/office/drawing/2014/main" val="662406941"/>
                  </a:ext>
                </a:extLst>
              </a:tr>
              <a:tr h="370840">
                <a:tc>
                  <a:txBody>
                    <a:bodyPr/>
                    <a:lstStyle/>
                    <a:p>
                      <a:pPr algn="ctr">
                        <a:buNone/>
                      </a:pPr>
                      <a:r>
                        <a:rPr lang="en-US" b="1">
                          <a:solidFill>
                            <a:srgbClr val="000000"/>
                          </a:solidFill>
                          <a:effectLst/>
                        </a:rPr>
                        <a:t>Jumbo</a:t>
                      </a:r>
                      <a:endParaRPr lang="en-US">
                        <a:effectLst/>
                      </a:endParaRPr>
                    </a:p>
                  </a:txBody>
                  <a:tcPr marL="38100" marR="38100" marT="38100" marB="38100"/>
                </a:tc>
                <a:tc>
                  <a:txBody>
                    <a:bodyPr/>
                    <a:lstStyle/>
                    <a:p>
                      <a:pPr algn="ctr">
                        <a:buNone/>
                      </a:pPr>
                      <a:r>
                        <a:rPr lang="en-US">
                          <a:solidFill>
                            <a:srgbClr val="000000"/>
                          </a:solidFill>
                          <a:effectLst/>
                        </a:rPr>
                        <a:t>Santiago</a:t>
                      </a:r>
                      <a:endParaRPr lang="en-US">
                        <a:effectLst/>
                      </a:endParaRPr>
                    </a:p>
                  </a:txBody>
                  <a:tcPr marL="38100" marR="38100" marT="38100" marB="38100"/>
                </a:tc>
                <a:tc>
                  <a:txBody>
                    <a:bodyPr/>
                    <a:lstStyle/>
                    <a:p>
                      <a:pPr algn="ctr">
                        <a:buNone/>
                      </a:pPr>
                      <a:r>
                        <a:rPr lang="en-US">
                          <a:solidFill>
                            <a:srgbClr val="000000"/>
                          </a:solidFill>
                          <a:effectLst/>
                        </a:rPr>
                        <a:t>90.44</a:t>
                      </a:r>
                      <a:endParaRPr lang="en-US">
                        <a:effectLst/>
                      </a:endParaRPr>
                    </a:p>
                  </a:txBody>
                  <a:tcPr marL="38100" marR="38100" marT="38100" marB="38100"/>
                </a:tc>
                <a:tc>
                  <a:txBody>
                    <a:bodyPr/>
                    <a:lstStyle/>
                    <a:p>
                      <a:pPr algn="ctr">
                        <a:buNone/>
                      </a:pPr>
                      <a:r>
                        <a:rPr lang="en-US">
                          <a:solidFill>
                            <a:srgbClr val="000000"/>
                          </a:solidFill>
                          <a:effectLst/>
                        </a:rPr>
                        <a:t>4.57</a:t>
                      </a:r>
                      <a:endParaRPr lang="en-US">
                        <a:effectLst/>
                      </a:endParaRPr>
                    </a:p>
                  </a:txBody>
                  <a:tcPr marL="38100" marR="38100" marT="38100" marB="38100"/>
                </a:tc>
                <a:tc>
                  <a:txBody>
                    <a:bodyPr/>
                    <a:lstStyle/>
                    <a:p>
                      <a:pPr algn="ctr">
                        <a:buNone/>
                      </a:pPr>
                      <a:r>
                        <a:rPr lang="en-US" dirty="0">
                          <a:solidFill>
                            <a:srgbClr val="000000"/>
                          </a:solidFill>
                          <a:effectLst/>
                        </a:rPr>
                        <a:t>95.37</a:t>
                      </a:r>
                      <a:endParaRPr lang="en-US" dirty="0">
                        <a:effectLst/>
                      </a:endParaRPr>
                    </a:p>
                  </a:txBody>
                  <a:tcPr marL="38100" marR="38100" marT="38100" marB="38100"/>
                </a:tc>
                <a:extLst>
                  <a:ext uri="{0D108BD9-81ED-4DB2-BD59-A6C34878D82A}">
                    <a16:rowId xmlns:a16="http://schemas.microsoft.com/office/drawing/2014/main" val="2085266022"/>
                  </a:ext>
                </a:extLst>
              </a:tr>
              <a:tr h="370840">
                <a:tc>
                  <a:txBody>
                    <a:bodyPr/>
                    <a:lstStyle/>
                    <a:p>
                      <a:pPr algn="ctr">
                        <a:buNone/>
                      </a:pPr>
                      <a:r>
                        <a:rPr lang="en-US" b="1">
                          <a:solidFill>
                            <a:srgbClr val="000000"/>
                          </a:solidFill>
                          <a:effectLst/>
                        </a:rPr>
                        <a:t>Farmacias Ahumada</a:t>
                      </a:r>
                      <a:endParaRPr lang="en-US">
                        <a:effectLst/>
                      </a:endParaRPr>
                    </a:p>
                  </a:txBody>
                  <a:tcPr marL="38100" marR="38100" marT="38100" marB="38100"/>
                </a:tc>
                <a:tc>
                  <a:txBody>
                    <a:bodyPr/>
                    <a:lstStyle/>
                    <a:p>
                      <a:pPr algn="ctr">
                        <a:buNone/>
                      </a:pPr>
                      <a:r>
                        <a:rPr lang="en-US">
                          <a:solidFill>
                            <a:srgbClr val="000000"/>
                          </a:solidFill>
                          <a:effectLst/>
                        </a:rPr>
                        <a:t>Santiago</a:t>
                      </a:r>
                      <a:endParaRPr lang="en-US">
                        <a:effectLst/>
                      </a:endParaRPr>
                    </a:p>
                  </a:txBody>
                  <a:tcPr marL="38100" marR="38100" marT="38100" marB="38100"/>
                </a:tc>
                <a:tc>
                  <a:txBody>
                    <a:bodyPr/>
                    <a:lstStyle/>
                    <a:p>
                      <a:pPr algn="ctr">
                        <a:buNone/>
                      </a:pPr>
                      <a:r>
                        <a:rPr lang="en-US">
                          <a:solidFill>
                            <a:srgbClr val="000000"/>
                          </a:solidFill>
                          <a:effectLst/>
                        </a:rPr>
                        <a:t>90.38</a:t>
                      </a:r>
                      <a:endParaRPr lang="en-US">
                        <a:effectLst/>
                      </a:endParaRPr>
                    </a:p>
                  </a:txBody>
                  <a:tcPr marL="38100" marR="38100" marT="38100" marB="38100"/>
                </a:tc>
                <a:tc>
                  <a:txBody>
                    <a:bodyPr/>
                    <a:lstStyle/>
                    <a:p>
                      <a:pPr algn="ctr">
                        <a:buNone/>
                      </a:pPr>
                      <a:r>
                        <a:rPr lang="en-US">
                          <a:solidFill>
                            <a:srgbClr val="000000"/>
                          </a:solidFill>
                          <a:effectLst/>
                        </a:rPr>
                        <a:t>1.07</a:t>
                      </a:r>
                      <a:endParaRPr lang="en-US">
                        <a:effectLst/>
                      </a:endParaRPr>
                    </a:p>
                  </a:txBody>
                  <a:tcPr marL="38100" marR="38100" marT="38100" marB="38100"/>
                </a:tc>
                <a:tc>
                  <a:txBody>
                    <a:bodyPr/>
                    <a:lstStyle/>
                    <a:p>
                      <a:pPr algn="ctr">
                        <a:buNone/>
                      </a:pPr>
                      <a:r>
                        <a:rPr lang="en-US" dirty="0">
                          <a:solidFill>
                            <a:srgbClr val="000000"/>
                          </a:solidFill>
                          <a:effectLst/>
                        </a:rPr>
                        <a:t>98.93</a:t>
                      </a:r>
                      <a:endParaRPr lang="en-US" dirty="0">
                        <a:effectLst/>
                      </a:endParaRPr>
                    </a:p>
                  </a:txBody>
                  <a:tcPr marL="38100" marR="38100" marT="38100" marB="38100"/>
                </a:tc>
                <a:extLst>
                  <a:ext uri="{0D108BD9-81ED-4DB2-BD59-A6C34878D82A}">
                    <a16:rowId xmlns:a16="http://schemas.microsoft.com/office/drawing/2014/main" val="4086046288"/>
                  </a:ext>
                </a:extLst>
              </a:tr>
              <a:tr h="370840">
                <a:tc>
                  <a:txBody>
                    <a:bodyPr/>
                    <a:lstStyle/>
                    <a:p>
                      <a:pPr algn="ctr">
                        <a:buNone/>
                      </a:pPr>
                      <a:r>
                        <a:rPr lang="en-US" b="1">
                          <a:solidFill>
                            <a:srgbClr val="000000"/>
                          </a:solidFill>
                          <a:effectLst/>
                        </a:rPr>
                        <a:t>Jumbo</a:t>
                      </a:r>
                      <a:endParaRPr lang="en-US">
                        <a:effectLst/>
                      </a:endParaRPr>
                    </a:p>
                  </a:txBody>
                  <a:tcPr marL="38100" marR="38100" marT="38100" marB="38100"/>
                </a:tc>
                <a:tc>
                  <a:txBody>
                    <a:bodyPr/>
                    <a:lstStyle/>
                    <a:p>
                      <a:pPr algn="ctr">
                        <a:buNone/>
                      </a:pPr>
                      <a:r>
                        <a:rPr lang="en-US">
                          <a:solidFill>
                            <a:srgbClr val="000000"/>
                          </a:solidFill>
                          <a:effectLst/>
                        </a:rPr>
                        <a:t>Valparaiso</a:t>
                      </a:r>
                      <a:endParaRPr lang="en-US">
                        <a:effectLst/>
                      </a:endParaRPr>
                    </a:p>
                  </a:txBody>
                  <a:tcPr marL="38100" marR="38100" marT="38100" marB="38100"/>
                </a:tc>
                <a:tc>
                  <a:txBody>
                    <a:bodyPr/>
                    <a:lstStyle/>
                    <a:p>
                      <a:pPr algn="ctr">
                        <a:buNone/>
                      </a:pPr>
                      <a:r>
                        <a:rPr lang="en-US">
                          <a:solidFill>
                            <a:srgbClr val="000000"/>
                          </a:solidFill>
                          <a:effectLst/>
                        </a:rPr>
                        <a:t>86.47</a:t>
                      </a:r>
                      <a:endParaRPr lang="en-US">
                        <a:effectLst/>
                      </a:endParaRPr>
                    </a:p>
                  </a:txBody>
                  <a:tcPr marL="38100" marR="38100" marT="38100" marB="38100"/>
                </a:tc>
                <a:tc>
                  <a:txBody>
                    <a:bodyPr/>
                    <a:lstStyle/>
                    <a:p>
                      <a:pPr algn="ctr">
                        <a:buNone/>
                      </a:pPr>
                      <a:r>
                        <a:rPr lang="en-US">
                          <a:solidFill>
                            <a:srgbClr val="000000"/>
                          </a:solidFill>
                          <a:effectLst/>
                        </a:rPr>
                        <a:t>4.30</a:t>
                      </a:r>
                      <a:endParaRPr lang="en-US">
                        <a:effectLst/>
                      </a:endParaRPr>
                    </a:p>
                  </a:txBody>
                  <a:tcPr marL="38100" marR="38100" marT="38100" marB="38100"/>
                </a:tc>
                <a:tc>
                  <a:txBody>
                    <a:bodyPr/>
                    <a:lstStyle/>
                    <a:p>
                      <a:pPr algn="ctr">
                        <a:buNone/>
                      </a:pPr>
                      <a:r>
                        <a:rPr lang="en-US" dirty="0">
                          <a:solidFill>
                            <a:srgbClr val="000000"/>
                          </a:solidFill>
                          <a:effectLst/>
                        </a:rPr>
                        <a:t>95.69</a:t>
                      </a:r>
                      <a:endParaRPr lang="en-US" dirty="0">
                        <a:effectLst/>
                      </a:endParaRPr>
                    </a:p>
                  </a:txBody>
                  <a:tcPr marL="38100" marR="38100" marT="38100" marB="38100"/>
                </a:tc>
                <a:extLst>
                  <a:ext uri="{0D108BD9-81ED-4DB2-BD59-A6C34878D82A}">
                    <a16:rowId xmlns:a16="http://schemas.microsoft.com/office/drawing/2014/main" val="2900854303"/>
                  </a:ext>
                </a:extLst>
              </a:tr>
              <a:tr h="370840">
                <a:tc>
                  <a:txBody>
                    <a:bodyPr/>
                    <a:lstStyle/>
                    <a:p>
                      <a:pPr algn="ctr">
                        <a:buNone/>
                      </a:pPr>
                      <a:r>
                        <a:rPr lang="en-US" b="1">
                          <a:solidFill>
                            <a:srgbClr val="000000"/>
                          </a:solidFill>
                          <a:effectLst/>
                        </a:rPr>
                        <a:t>Unimarc</a:t>
                      </a:r>
                      <a:endParaRPr lang="en-US">
                        <a:effectLst/>
                      </a:endParaRPr>
                    </a:p>
                  </a:txBody>
                  <a:tcPr marL="38100" marR="38100" marT="38100" marB="38100"/>
                </a:tc>
                <a:tc>
                  <a:txBody>
                    <a:bodyPr/>
                    <a:lstStyle/>
                    <a:p>
                      <a:pPr algn="ctr">
                        <a:buNone/>
                      </a:pPr>
                      <a:r>
                        <a:rPr lang="en-US">
                          <a:solidFill>
                            <a:srgbClr val="000000"/>
                          </a:solidFill>
                          <a:effectLst/>
                        </a:rPr>
                        <a:t>Santiago</a:t>
                      </a:r>
                      <a:endParaRPr lang="en-US">
                        <a:effectLst/>
                      </a:endParaRPr>
                    </a:p>
                  </a:txBody>
                  <a:tcPr marL="38100" marR="38100" marT="38100" marB="38100"/>
                </a:tc>
                <a:tc>
                  <a:txBody>
                    <a:bodyPr/>
                    <a:lstStyle/>
                    <a:p>
                      <a:pPr algn="ctr">
                        <a:buNone/>
                      </a:pPr>
                      <a:r>
                        <a:rPr lang="en-US">
                          <a:solidFill>
                            <a:srgbClr val="000000"/>
                          </a:solidFill>
                          <a:effectLst/>
                        </a:rPr>
                        <a:t>83.52</a:t>
                      </a:r>
                      <a:endParaRPr lang="en-US">
                        <a:effectLst/>
                      </a:endParaRPr>
                    </a:p>
                  </a:txBody>
                  <a:tcPr marL="38100" marR="38100" marT="38100" marB="38100"/>
                </a:tc>
                <a:tc>
                  <a:txBody>
                    <a:bodyPr/>
                    <a:lstStyle/>
                    <a:p>
                      <a:pPr algn="ctr">
                        <a:buNone/>
                      </a:pPr>
                      <a:r>
                        <a:rPr lang="en-US">
                          <a:solidFill>
                            <a:srgbClr val="000000"/>
                          </a:solidFill>
                          <a:effectLst/>
                        </a:rPr>
                        <a:t>4.50</a:t>
                      </a:r>
                      <a:endParaRPr lang="en-US">
                        <a:effectLst/>
                      </a:endParaRPr>
                    </a:p>
                  </a:txBody>
                  <a:tcPr marL="38100" marR="38100" marT="38100" marB="38100"/>
                </a:tc>
                <a:tc>
                  <a:txBody>
                    <a:bodyPr/>
                    <a:lstStyle/>
                    <a:p>
                      <a:pPr algn="ctr">
                        <a:buNone/>
                      </a:pPr>
                      <a:r>
                        <a:rPr lang="en-US" dirty="0">
                          <a:solidFill>
                            <a:srgbClr val="000000"/>
                          </a:solidFill>
                          <a:effectLst/>
                        </a:rPr>
                        <a:t>95.44</a:t>
                      </a:r>
                      <a:endParaRPr lang="en-US" dirty="0">
                        <a:effectLst/>
                      </a:endParaRPr>
                    </a:p>
                  </a:txBody>
                  <a:tcPr marL="38100" marR="38100" marT="38100" marB="38100"/>
                </a:tc>
                <a:extLst>
                  <a:ext uri="{0D108BD9-81ED-4DB2-BD59-A6C34878D82A}">
                    <a16:rowId xmlns:a16="http://schemas.microsoft.com/office/drawing/2014/main" val="1956365486"/>
                  </a:ext>
                </a:extLst>
              </a:tr>
              <a:tr h="370840">
                <a:tc>
                  <a:txBody>
                    <a:bodyPr/>
                    <a:lstStyle/>
                    <a:p>
                      <a:pPr algn="ctr">
                        <a:buNone/>
                      </a:pPr>
                      <a:r>
                        <a:rPr lang="en-US" b="1">
                          <a:solidFill>
                            <a:srgbClr val="000000"/>
                          </a:solidFill>
                          <a:effectLst/>
                        </a:rPr>
                        <a:t>Unimarc</a:t>
                      </a:r>
                      <a:endParaRPr lang="en-US">
                        <a:effectLst/>
                      </a:endParaRPr>
                    </a:p>
                  </a:txBody>
                  <a:tcPr marL="38100" marR="38100" marT="38100" marB="38100"/>
                </a:tc>
                <a:tc>
                  <a:txBody>
                    <a:bodyPr/>
                    <a:lstStyle/>
                    <a:p>
                      <a:pPr algn="ctr">
                        <a:buNone/>
                      </a:pPr>
                      <a:r>
                        <a:rPr lang="en-US">
                          <a:solidFill>
                            <a:srgbClr val="000000"/>
                          </a:solidFill>
                          <a:effectLst/>
                        </a:rPr>
                        <a:t>Valparaiso</a:t>
                      </a:r>
                      <a:endParaRPr lang="en-US">
                        <a:effectLst/>
                      </a:endParaRPr>
                    </a:p>
                  </a:txBody>
                  <a:tcPr marL="38100" marR="38100" marT="38100" marB="38100"/>
                </a:tc>
                <a:tc>
                  <a:txBody>
                    <a:bodyPr/>
                    <a:lstStyle/>
                    <a:p>
                      <a:pPr algn="ctr">
                        <a:buNone/>
                      </a:pPr>
                      <a:r>
                        <a:rPr lang="en-US">
                          <a:solidFill>
                            <a:srgbClr val="000000"/>
                          </a:solidFill>
                          <a:effectLst/>
                        </a:rPr>
                        <a:t>82.59</a:t>
                      </a:r>
                      <a:endParaRPr lang="en-US">
                        <a:effectLst/>
                      </a:endParaRPr>
                    </a:p>
                  </a:txBody>
                  <a:tcPr marL="38100" marR="38100" marT="38100" marB="38100"/>
                </a:tc>
                <a:tc>
                  <a:txBody>
                    <a:bodyPr/>
                    <a:lstStyle/>
                    <a:p>
                      <a:pPr algn="ctr">
                        <a:buNone/>
                      </a:pPr>
                      <a:r>
                        <a:rPr lang="en-US">
                          <a:solidFill>
                            <a:srgbClr val="000000"/>
                          </a:solidFill>
                          <a:effectLst/>
                        </a:rPr>
                        <a:t>2.61</a:t>
                      </a:r>
                      <a:endParaRPr lang="en-US">
                        <a:effectLst/>
                      </a:endParaRPr>
                    </a:p>
                  </a:txBody>
                  <a:tcPr marL="38100" marR="38100" marT="38100" marB="38100"/>
                </a:tc>
                <a:tc>
                  <a:txBody>
                    <a:bodyPr/>
                    <a:lstStyle/>
                    <a:p>
                      <a:pPr algn="ctr">
                        <a:buNone/>
                      </a:pPr>
                      <a:r>
                        <a:rPr lang="en-US" dirty="0">
                          <a:solidFill>
                            <a:srgbClr val="000000"/>
                          </a:solidFill>
                          <a:effectLst/>
                        </a:rPr>
                        <a:t>97.39</a:t>
                      </a:r>
                      <a:endParaRPr lang="en-US" dirty="0">
                        <a:effectLst/>
                      </a:endParaRPr>
                    </a:p>
                  </a:txBody>
                  <a:tcPr marL="38100" marR="38100" marT="38100" marB="38100"/>
                </a:tc>
                <a:extLst>
                  <a:ext uri="{0D108BD9-81ED-4DB2-BD59-A6C34878D82A}">
                    <a16:rowId xmlns:a16="http://schemas.microsoft.com/office/drawing/2014/main" val="1228736969"/>
                  </a:ext>
                </a:extLst>
              </a:tr>
              <a:tr h="370840">
                <a:tc>
                  <a:txBody>
                    <a:bodyPr/>
                    <a:lstStyle/>
                    <a:p>
                      <a:pPr algn="ctr">
                        <a:buNone/>
                      </a:pPr>
                      <a:r>
                        <a:rPr lang="en-US" b="1">
                          <a:solidFill>
                            <a:srgbClr val="000000"/>
                          </a:solidFill>
                          <a:effectLst/>
                        </a:rPr>
                        <a:t>Unimarc</a:t>
                      </a:r>
                      <a:endParaRPr lang="en-US">
                        <a:effectLst/>
                      </a:endParaRPr>
                    </a:p>
                  </a:txBody>
                  <a:tcPr marL="38100" marR="38100" marT="38100" marB="38100"/>
                </a:tc>
                <a:tc>
                  <a:txBody>
                    <a:bodyPr/>
                    <a:lstStyle/>
                    <a:p>
                      <a:pPr algn="ctr">
                        <a:buNone/>
                      </a:pPr>
                      <a:r>
                        <a:rPr lang="en-US">
                          <a:solidFill>
                            <a:srgbClr val="000000"/>
                          </a:solidFill>
                          <a:effectLst/>
                        </a:rPr>
                        <a:t>La Serena</a:t>
                      </a:r>
                      <a:endParaRPr lang="en-US">
                        <a:effectLst/>
                      </a:endParaRPr>
                    </a:p>
                  </a:txBody>
                  <a:tcPr marL="38100" marR="38100" marT="38100" marB="38100"/>
                </a:tc>
                <a:tc>
                  <a:txBody>
                    <a:bodyPr/>
                    <a:lstStyle/>
                    <a:p>
                      <a:pPr algn="ctr">
                        <a:buNone/>
                      </a:pPr>
                      <a:r>
                        <a:rPr lang="en-US">
                          <a:solidFill>
                            <a:srgbClr val="000000"/>
                          </a:solidFill>
                          <a:effectLst/>
                        </a:rPr>
                        <a:t>81.58</a:t>
                      </a:r>
                      <a:endParaRPr lang="en-US">
                        <a:effectLst/>
                      </a:endParaRPr>
                    </a:p>
                  </a:txBody>
                  <a:tcPr marL="38100" marR="38100" marT="38100" marB="38100"/>
                </a:tc>
                <a:tc>
                  <a:txBody>
                    <a:bodyPr/>
                    <a:lstStyle/>
                    <a:p>
                      <a:pPr algn="ctr">
                        <a:buNone/>
                      </a:pPr>
                      <a:r>
                        <a:rPr lang="en-US">
                          <a:solidFill>
                            <a:srgbClr val="000000"/>
                          </a:solidFill>
                          <a:effectLst/>
                        </a:rPr>
                        <a:t>7.00</a:t>
                      </a:r>
                      <a:endParaRPr lang="en-US">
                        <a:effectLst/>
                      </a:endParaRPr>
                    </a:p>
                  </a:txBody>
                  <a:tcPr marL="38100" marR="38100" marT="38100" marB="38100"/>
                </a:tc>
                <a:tc>
                  <a:txBody>
                    <a:bodyPr/>
                    <a:lstStyle/>
                    <a:p>
                      <a:pPr algn="ctr">
                        <a:buNone/>
                      </a:pPr>
                      <a:r>
                        <a:rPr lang="en-US" dirty="0">
                          <a:solidFill>
                            <a:srgbClr val="000000"/>
                          </a:solidFill>
                          <a:effectLst/>
                        </a:rPr>
                        <a:t>93.00</a:t>
                      </a:r>
                      <a:endParaRPr lang="en-US" dirty="0">
                        <a:effectLst/>
                      </a:endParaRPr>
                    </a:p>
                  </a:txBody>
                  <a:tcPr marL="38100" marR="38100" marT="38100" marB="38100"/>
                </a:tc>
                <a:extLst>
                  <a:ext uri="{0D108BD9-81ED-4DB2-BD59-A6C34878D82A}">
                    <a16:rowId xmlns:a16="http://schemas.microsoft.com/office/drawing/2014/main" val="2644156469"/>
                  </a:ext>
                </a:extLst>
              </a:tr>
              <a:tr h="370840">
                <a:tc>
                  <a:txBody>
                    <a:bodyPr/>
                    <a:lstStyle/>
                    <a:p>
                      <a:pPr algn="ctr">
                        <a:buNone/>
                      </a:pPr>
                      <a:r>
                        <a:rPr lang="en-US" b="1">
                          <a:solidFill>
                            <a:srgbClr val="000000"/>
                          </a:solidFill>
                          <a:effectLst/>
                        </a:rPr>
                        <a:t>Jumbo</a:t>
                      </a:r>
                      <a:endParaRPr lang="en-US">
                        <a:effectLst/>
                      </a:endParaRPr>
                    </a:p>
                  </a:txBody>
                  <a:tcPr marL="38100" marR="38100" marT="38100" marB="38100"/>
                </a:tc>
                <a:tc>
                  <a:txBody>
                    <a:bodyPr/>
                    <a:lstStyle/>
                    <a:p>
                      <a:pPr algn="ctr">
                        <a:buNone/>
                      </a:pPr>
                      <a:r>
                        <a:rPr lang="en-US">
                          <a:solidFill>
                            <a:srgbClr val="000000"/>
                          </a:solidFill>
                          <a:effectLst/>
                        </a:rPr>
                        <a:t>La Serena</a:t>
                      </a:r>
                      <a:endParaRPr lang="en-US">
                        <a:effectLst/>
                      </a:endParaRPr>
                    </a:p>
                  </a:txBody>
                  <a:tcPr marL="38100" marR="38100" marT="38100" marB="38100"/>
                </a:tc>
                <a:tc>
                  <a:txBody>
                    <a:bodyPr/>
                    <a:lstStyle/>
                    <a:p>
                      <a:pPr algn="ctr">
                        <a:buNone/>
                      </a:pPr>
                      <a:r>
                        <a:rPr lang="en-US">
                          <a:solidFill>
                            <a:srgbClr val="000000"/>
                          </a:solidFill>
                          <a:effectLst/>
                        </a:rPr>
                        <a:t>79.24</a:t>
                      </a:r>
                      <a:endParaRPr lang="en-US">
                        <a:effectLst/>
                      </a:endParaRPr>
                    </a:p>
                  </a:txBody>
                  <a:tcPr marL="38100" marR="38100" marT="38100" marB="38100"/>
                </a:tc>
                <a:tc>
                  <a:txBody>
                    <a:bodyPr/>
                    <a:lstStyle/>
                    <a:p>
                      <a:pPr algn="ctr">
                        <a:buNone/>
                      </a:pPr>
                      <a:r>
                        <a:rPr lang="en-US">
                          <a:solidFill>
                            <a:srgbClr val="000000"/>
                          </a:solidFill>
                          <a:effectLst/>
                        </a:rPr>
                        <a:t>4.11</a:t>
                      </a:r>
                      <a:endParaRPr lang="en-US">
                        <a:effectLst/>
                      </a:endParaRPr>
                    </a:p>
                  </a:txBody>
                  <a:tcPr marL="38100" marR="38100" marT="38100" marB="38100"/>
                </a:tc>
                <a:tc>
                  <a:txBody>
                    <a:bodyPr/>
                    <a:lstStyle/>
                    <a:p>
                      <a:pPr algn="ctr">
                        <a:buNone/>
                      </a:pPr>
                      <a:r>
                        <a:rPr lang="en-US" dirty="0">
                          <a:solidFill>
                            <a:srgbClr val="000000"/>
                          </a:solidFill>
                          <a:effectLst/>
                        </a:rPr>
                        <a:t>95.89</a:t>
                      </a:r>
                      <a:endParaRPr lang="en-US" dirty="0">
                        <a:effectLst/>
                      </a:endParaRPr>
                    </a:p>
                  </a:txBody>
                  <a:tcPr marL="38100" marR="38100" marT="38100" marB="38100"/>
                </a:tc>
                <a:extLst>
                  <a:ext uri="{0D108BD9-81ED-4DB2-BD59-A6C34878D82A}">
                    <a16:rowId xmlns:a16="http://schemas.microsoft.com/office/drawing/2014/main" val="1517720013"/>
                  </a:ext>
                </a:extLst>
              </a:tr>
            </a:tbl>
          </a:graphicData>
        </a:graphic>
      </p:graphicFrame>
      <p:sp>
        <p:nvSpPr>
          <p:cNvPr id="7" name="TextBox 6">
            <a:extLst>
              <a:ext uri="{FF2B5EF4-FFF2-40B4-BE49-F238E27FC236}">
                <a16:creationId xmlns:a16="http://schemas.microsoft.com/office/drawing/2014/main" id="{55814240-938A-5E2E-4B7F-14570043FC18}"/>
              </a:ext>
            </a:extLst>
          </p:cNvPr>
          <p:cNvSpPr txBox="1"/>
          <p:nvPr/>
        </p:nvSpPr>
        <p:spPr>
          <a:xfrm>
            <a:off x="455811" y="1698173"/>
            <a:ext cx="2964283" cy="5078313"/>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1"/>
                </a:solidFill>
              </a:rPr>
              <a:t>Stores with </a:t>
            </a:r>
            <a:r>
              <a:rPr lang="en-US" b="1" dirty="0">
                <a:solidFill>
                  <a:schemeClr val="bg1"/>
                </a:solidFill>
              </a:rPr>
              <a:t>high Found rate</a:t>
            </a:r>
            <a:r>
              <a:rPr lang="en-US" dirty="0">
                <a:solidFill>
                  <a:schemeClr val="bg1"/>
                </a:solidFill>
              </a:rPr>
              <a:t> have </a:t>
            </a:r>
            <a:r>
              <a:rPr lang="en-US" b="1" dirty="0">
                <a:solidFill>
                  <a:schemeClr val="bg1"/>
                </a:solidFill>
              </a:rPr>
              <a:t>lower % Out of Stock </a:t>
            </a:r>
            <a:r>
              <a:rPr lang="en-US" dirty="0">
                <a:solidFill>
                  <a:schemeClr val="bg1"/>
                </a:solidFill>
              </a:rPr>
              <a:t>which means that these stores keep more of their catalog in stock which </a:t>
            </a:r>
            <a:r>
              <a:rPr lang="en-US" b="1" dirty="0">
                <a:solidFill>
                  <a:schemeClr val="bg1"/>
                </a:solidFill>
              </a:rPr>
              <a:t>directly boosts </a:t>
            </a:r>
            <a:r>
              <a:rPr lang="en-US" dirty="0">
                <a:solidFill>
                  <a:schemeClr val="bg1"/>
                </a:solidFill>
              </a:rPr>
              <a:t>their FR.</a:t>
            </a:r>
          </a:p>
          <a:p>
            <a:pPr marL="285750" indent="-285750">
              <a:buFont typeface="Arial" panose="020B0604020202020204" pitchFamily="34" charset="0"/>
              <a:buChar char="•"/>
            </a:pPr>
            <a:r>
              <a:rPr lang="en-US" dirty="0">
                <a:solidFill>
                  <a:schemeClr val="bg1"/>
                </a:solidFill>
              </a:rPr>
              <a:t>Highest % available is 98.8% in city of Valparaiso for </a:t>
            </a:r>
            <a:r>
              <a:rPr lang="en-US" dirty="0" err="1">
                <a:solidFill>
                  <a:schemeClr val="bg1"/>
                </a:solidFill>
              </a:rPr>
              <a:t>Farmacias</a:t>
            </a:r>
            <a:r>
              <a:rPr lang="en-US" dirty="0">
                <a:solidFill>
                  <a:schemeClr val="bg1"/>
                </a:solidFill>
              </a:rPr>
              <a:t> Ahumada. </a:t>
            </a:r>
          </a:p>
          <a:p>
            <a:pPr marL="285750" indent="-285750">
              <a:buFont typeface="Arial" panose="020B0604020202020204" pitchFamily="34" charset="0"/>
              <a:buChar char="•"/>
            </a:pPr>
            <a:r>
              <a:rPr lang="en-US" dirty="0">
                <a:solidFill>
                  <a:schemeClr val="bg1"/>
                </a:solidFill>
              </a:rPr>
              <a:t>What we as a team could do looking at this data is tighten the low stock rules for the bottom performers (</a:t>
            </a:r>
            <a:r>
              <a:rPr lang="en-US" dirty="0" err="1">
                <a:solidFill>
                  <a:schemeClr val="bg1"/>
                </a:solidFill>
              </a:rPr>
              <a:t>eg</a:t>
            </a:r>
            <a:r>
              <a:rPr lang="en-US" dirty="0">
                <a:solidFill>
                  <a:schemeClr val="bg1"/>
                </a:solidFill>
              </a:rPr>
              <a:t> increase low stock thresholds &amp; monitor it.)</a:t>
            </a:r>
          </a:p>
        </p:txBody>
      </p:sp>
    </p:spTree>
    <p:extLst>
      <p:ext uri="{BB962C8B-B14F-4D97-AF65-F5344CB8AC3E}">
        <p14:creationId xmlns:p14="http://schemas.microsoft.com/office/powerpoint/2010/main" val="473826591"/>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D9581F9-024B-40C4-A7FF-F9CEE12F8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A26BA9-FF7B-2D38-5496-A1777D2D0E3C}"/>
              </a:ext>
            </a:extLst>
          </p:cNvPr>
          <p:cNvSpPr>
            <a:spLocks noGrp="1"/>
          </p:cNvSpPr>
          <p:nvPr>
            <p:ph type="title"/>
          </p:nvPr>
        </p:nvSpPr>
        <p:spPr>
          <a:xfrm>
            <a:off x="455811" y="230590"/>
            <a:ext cx="9020697" cy="647199"/>
          </a:xfrm>
        </p:spPr>
        <p:txBody>
          <a:bodyPr>
            <a:noAutofit/>
          </a:bodyPr>
          <a:lstStyle/>
          <a:p>
            <a:pPr algn="ctr"/>
            <a:r>
              <a:rPr lang="en-US" sz="4000" b="1" dirty="0">
                <a:solidFill>
                  <a:schemeClr val="bg1"/>
                </a:solidFill>
              </a:rPr>
              <a:t>     Projected ROI Impact</a:t>
            </a:r>
          </a:p>
        </p:txBody>
      </p:sp>
      <p:sp>
        <p:nvSpPr>
          <p:cNvPr id="9" name="TextBox 8">
            <a:extLst>
              <a:ext uri="{FF2B5EF4-FFF2-40B4-BE49-F238E27FC236}">
                <a16:creationId xmlns:a16="http://schemas.microsoft.com/office/drawing/2014/main" id="{EB6E1734-DB7F-7D18-F766-E90D85C7C036}"/>
              </a:ext>
            </a:extLst>
          </p:cNvPr>
          <p:cNvSpPr txBox="1"/>
          <p:nvPr/>
        </p:nvSpPr>
        <p:spPr>
          <a:xfrm>
            <a:off x="455811" y="1299975"/>
            <a:ext cx="10920752" cy="400110"/>
          </a:xfrm>
          <a:prstGeom prst="rect">
            <a:avLst/>
          </a:prstGeom>
          <a:noFill/>
        </p:spPr>
        <p:txBody>
          <a:bodyPr wrap="square" rtlCol="0">
            <a:spAutoFit/>
          </a:bodyPr>
          <a:lstStyle/>
          <a:p>
            <a:pPr algn="ctr"/>
            <a:r>
              <a:rPr lang="en-US" sz="2000" dirty="0">
                <a:solidFill>
                  <a:schemeClr val="bg1"/>
                </a:solidFill>
              </a:rPr>
              <a:t>From the June 23’ data, there were </a:t>
            </a:r>
            <a:r>
              <a:rPr lang="en-US" sz="2000" b="1" dirty="0">
                <a:solidFill>
                  <a:schemeClr val="bg1"/>
                </a:solidFill>
              </a:rPr>
              <a:t>8,414 unfulfilled items </a:t>
            </a:r>
            <a:r>
              <a:rPr lang="en-US" sz="2000" dirty="0">
                <a:solidFill>
                  <a:schemeClr val="bg1"/>
                </a:solidFill>
              </a:rPr>
              <a:t>across </a:t>
            </a:r>
            <a:r>
              <a:rPr lang="en-US" sz="2000" b="1" dirty="0">
                <a:solidFill>
                  <a:schemeClr val="bg1"/>
                </a:solidFill>
              </a:rPr>
              <a:t>4,456 delivered orders</a:t>
            </a:r>
            <a:r>
              <a:rPr lang="en-US" sz="2000" dirty="0">
                <a:solidFill>
                  <a:schemeClr val="bg1"/>
                </a:solidFill>
              </a:rPr>
              <a:t>.</a:t>
            </a:r>
          </a:p>
        </p:txBody>
      </p:sp>
      <p:sp>
        <p:nvSpPr>
          <p:cNvPr id="12" name="TextBox 11">
            <a:extLst>
              <a:ext uri="{FF2B5EF4-FFF2-40B4-BE49-F238E27FC236}">
                <a16:creationId xmlns:a16="http://schemas.microsoft.com/office/drawing/2014/main" id="{B3E1D486-AF26-E60F-6D48-9F32FFFE0C04}"/>
              </a:ext>
            </a:extLst>
          </p:cNvPr>
          <p:cNvSpPr txBox="1"/>
          <p:nvPr/>
        </p:nvSpPr>
        <p:spPr>
          <a:xfrm>
            <a:off x="447894" y="4338422"/>
            <a:ext cx="10920752" cy="2862322"/>
          </a:xfrm>
          <a:prstGeom prst="rect">
            <a:avLst/>
          </a:prstGeom>
          <a:noFill/>
        </p:spPr>
        <p:txBody>
          <a:bodyPr wrap="square" rtlCol="0">
            <a:spAutoFit/>
          </a:bodyPr>
          <a:lstStyle/>
          <a:p>
            <a:pPr marL="342900" indent="-342900" algn="ctr">
              <a:buFont typeface="Wingdings" pitchFamily="2" charset="2"/>
              <a:buChar char="Ø"/>
            </a:pPr>
            <a:r>
              <a:rPr lang="en-US" sz="2000" b="1" dirty="0">
                <a:solidFill>
                  <a:schemeClr val="bg1"/>
                </a:solidFill>
              </a:rPr>
              <a:t>Better store catalog consistency</a:t>
            </a:r>
          </a:p>
          <a:p>
            <a:pPr algn="ctr"/>
            <a:endParaRPr lang="en-US" sz="2000" b="1" dirty="0">
              <a:solidFill>
                <a:schemeClr val="bg1"/>
              </a:solidFill>
            </a:endParaRPr>
          </a:p>
          <a:p>
            <a:pPr marL="342900" indent="-342900" algn="ctr">
              <a:buFont typeface="Wingdings" pitchFamily="2" charset="2"/>
              <a:buChar char="Ø"/>
            </a:pPr>
            <a:r>
              <a:rPr lang="en-US" sz="2000" b="1" dirty="0">
                <a:solidFill>
                  <a:schemeClr val="bg1"/>
                </a:solidFill>
              </a:rPr>
              <a:t>Fewer failed orders than before</a:t>
            </a:r>
          </a:p>
          <a:p>
            <a:pPr algn="ctr"/>
            <a:endParaRPr lang="en-US" sz="2000" b="1" dirty="0">
              <a:solidFill>
                <a:schemeClr val="bg1"/>
              </a:solidFill>
            </a:endParaRPr>
          </a:p>
          <a:p>
            <a:pPr marL="342900" indent="-342900" algn="ctr">
              <a:buFont typeface="Wingdings" pitchFamily="2" charset="2"/>
              <a:buChar char="Ø"/>
            </a:pPr>
            <a:r>
              <a:rPr lang="en-US" sz="2000" b="1" dirty="0">
                <a:solidFill>
                  <a:schemeClr val="bg1"/>
                </a:solidFill>
              </a:rPr>
              <a:t>Helps us in reduced cancellations</a:t>
            </a:r>
          </a:p>
          <a:p>
            <a:pPr algn="ctr"/>
            <a:endParaRPr lang="en-US" sz="2000" b="1" dirty="0">
              <a:solidFill>
                <a:schemeClr val="bg1"/>
              </a:solidFill>
            </a:endParaRPr>
          </a:p>
          <a:p>
            <a:pPr marL="342900" indent="-342900" algn="ctr">
              <a:buFont typeface="Wingdings" pitchFamily="2" charset="2"/>
              <a:buChar char="Ø"/>
            </a:pPr>
            <a:r>
              <a:rPr lang="en-US" sz="2000" b="1" dirty="0">
                <a:solidFill>
                  <a:schemeClr val="bg1"/>
                </a:solidFill>
              </a:rPr>
              <a:t>Boosts our Found rate which correlates to higher availability</a:t>
            </a:r>
          </a:p>
          <a:p>
            <a:pPr marL="342900" indent="-342900" algn="ctr">
              <a:buFont typeface="Arial" panose="020B0604020202020204" pitchFamily="34" charset="0"/>
              <a:buChar char="•"/>
            </a:pPr>
            <a:endParaRPr lang="en-US" sz="2000" b="1" dirty="0">
              <a:solidFill>
                <a:schemeClr val="bg1"/>
              </a:solidFill>
            </a:endParaRPr>
          </a:p>
          <a:p>
            <a:pPr marL="342900" indent="-342900" algn="ctr">
              <a:buFont typeface="Arial" panose="020B0604020202020204" pitchFamily="34" charset="0"/>
              <a:buChar char="•"/>
            </a:pPr>
            <a:endParaRPr lang="en-US" sz="2000" b="1" dirty="0">
              <a:solidFill>
                <a:schemeClr val="bg1"/>
              </a:solidFill>
            </a:endParaRPr>
          </a:p>
        </p:txBody>
      </p:sp>
      <p:sp>
        <p:nvSpPr>
          <p:cNvPr id="13" name="Rounded Rectangle 12">
            <a:extLst>
              <a:ext uri="{FF2B5EF4-FFF2-40B4-BE49-F238E27FC236}">
                <a16:creationId xmlns:a16="http://schemas.microsoft.com/office/drawing/2014/main" id="{84D922E7-9588-BE5A-78B7-3927F6334822}"/>
              </a:ext>
            </a:extLst>
          </p:cNvPr>
          <p:cNvSpPr/>
          <p:nvPr/>
        </p:nvSpPr>
        <p:spPr>
          <a:xfrm>
            <a:off x="178131" y="2134590"/>
            <a:ext cx="4013859" cy="129441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0FB6119-429D-3713-F824-F92F705C302E}"/>
              </a:ext>
            </a:extLst>
          </p:cNvPr>
          <p:cNvSpPr txBox="1"/>
          <p:nvPr/>
        </p:nvSpPr>
        <p:spPr>
          <a:xfrm>
            <a:off x="237508" y="2336471"/>
            <a:ext cx="3883229" cy="830997"/>
          </a:xfrm>
          <a:prstGeom prst="rect">
            <a:avLst/>
          </a:prstGeom>
          <a:noFill/>
        </p:spPr>
        <p:txBody>
          <a:bodyPr wrap="square" rtlCol="0">
            <a:spAutoFit/>
          </a:bodyPr>
          <a:lstStyle/>
          <a:p>
            <a:r>
              <a:rPr lang="en-US" sz="1600" dirty="0"/>
              <a:t>We can aim to improve the </a:t>
            </a:r>
            <a:r>
              <a:rPr lang="en-US" sz="1600" b="1" dirty="0"/>
              <a:t>Found rate </a:t>
            </a:r>
            <a:r>
              <a:rPr lang="en-US" sz="1600" dirty="0"/>
              <a:t>in lower performing stores by </a:t>
            </a:r>
            <a:r>
              <a:rPr lang="en-US" sz="1600" b="1" dirty="0"/>
              <a:t>roughly 3-4%</a:t>
            </a:r>
            <a:r>
              <a:rPr lang="en-US" sz="1600" dirty="0"/>
              <a:t> in 4-6 weeks.</a:t>
            </a:r>
          </a:p>
        </p:txBody>
      </p:sp>
      <p:sp>
        <p:nvSpPr>
          <p:cNvPr id="15" name="Right Arrow 14">
            <a:extLst>
              <a:ext uri="{FF2B5EF4-FFF2-40B4-BE49-F238E27FC236}">
                <a16:creationId xmlns:a16="http://schemas.microsoft.com/office/drawing/2014/main" id="{1A175C1E-BDBB-870E-E7A7-440BE8F2AAC2}"/>
              </a:ext>
            </a:extLst>
          </p:cNvPr>
          <p:cNvSpPr/>
          <p:nvPr/>
        </p:nvSpPr>
        <p:spPr>
          <a:xfrm>
            <a:off x="4358248" y="2486397"/>
            <a:ext cx="783771" cy="575978"/>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427C0529-3680-9139-EB42-E27FCA2CEED6}"/>
              </a:ext>
            </a:extLst>
          </p:cNvPr>
          <p:cNvSpPr/>
          <p:nvPr/>
        </p:nvSpPr>
        <p:spPr>
          <a:xfrm>
            <a:off x="5272648" y="2122271"/>
            <a:ext cx="3788225" cy="129441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4851498B-B1DD-7B0D-EB09-BE3082916E5B}"/>
              </a:ext>
            </a:extLst>
          </p:cNvPr>
          <p:cNvSpPr txBox="1"/>
          <p:nvPr/>
        </p:nvSpPr>
        <p:spPr>
          <a:xfrm>
            <a:off x="5302340" y="2312405"/>
            <a:ext cx="3758533" cy="830997"/>
          </a:xfrm>
          <a:prstGeom prst="rect">
            <a:avLst/>
          </a:prstGeom>
          <a:noFill/>
        </p:spPr>
        <p:txBody>
          <a:bodyPr wrap="square" rtlCol="0">
            <a:spAutoFit/>
          </a:bodyPr>
          <a:lstStyle/>
          <a:p>
            <a:r>
              <a:rPr lang="en-US" sz="1600" dirty="0"/>
              <a:t>That would be around </a:t>
            </a:r>
            <a:r>
              <a:rPr lang="en-US" sz="1600" b="1" dirty="0"/>
              <a:t>1500-1600 items </a:t>
            </a:r>
            <a:r>
              <a:rPr lang="en-US" sz="1600" dirty="0"/>
              <a:t>and ~ </a:t>
            </a:r>
            <a:r>
              <a:rPr lang="en-US" sz="1600" b="1" dirty="0"/>
              <a:t>500 order cancellations </a:t>
            </a:r>
            <a:r>
              <a:rPr lang="en-US" sz="1600" dirty="0"/>
              <a:t>could be prevented. </a:t>
            </a:r>
          </a:p>
        </p:txBody>
      </p:sp>
      <p:sp>
        <p:nvSpPr>
          <p:cNvPr id="19" name="TextBox 18">
            <a:extLst>
              <a:ext uri="{FF2B5EF4-FFF2-40B4-BE49-F238E27FC236}">
                <a16:creationId xmlns:a16="http://schemas.microsoft.com/office/drawing/2014/main" id="{D52522BC-19FB-EEAF-9CEA-10BD24EC98B9}"/>
              </a:ext>
            </a:extLst>
          </p:cNvPr>
          <p:cNvSpPr txBox="1"/>
          <p:nvPr/>
        </p:nvSpPr>
        <p:spPr>
          <a:xfrm>
            <a:off x="726669" y="3660827"/>
            <a:ext cx="10920752" cy="523220"/>
          </a:xfrm>
          <a:prstGeom prst="rect">
            <a:avLst/>
          </a:prstGeom>
          <a:noFill/>
        </p:spPr>
        <p:txBody>
          <a:bodyPr wrap="square" rtlCol="0">
            <a:spAutoFit/>
          </a:bodyPr>
          <a:lstStyle/>
          <a:p>
            <a:pPr algn="ctr"/>
            <a:r>
              <a:rPr lang="en-US" sz="2800" b="1" dirty="0">
                <a:solidFill>
                  <a:schemeClr val="bg1"/>
                </a:solidFill>
              </a:rPr>
              <a:t>What would the above strategy do?</a:t>
            </a:r>
          </a:p>
        </p:txBody>
      </p:sp>
      <p:sp>
        <p:nvSpPr>
          <p:cNvPr id="20" name="Right Arrow 19">
            <a:extLst>
              <a:ext uri="{FF2B5EF4-FFF2-40B4-BE49-F238E27FC236}">
                <a16:creationId xmlns:a16="http://schemas.microsoft.com/office/drawing/2014/main" id="{0558D609-DDE5-BA65-231B-F9756BE11806}"/>
              </a:ext>
            </a:extLst>
          </p:cNvPr>
          <p:cNvSpPr/>
          <p:nvPr/>
        </p:nvSpPr>
        <p:spPr>
          <a:xfrm>
            <a:off x="9191502" y="2486397"/>
            <a:ext cx="783771" cy="575978"/>
          </a:xfrm>
          <a:prstGeom prst="rightArrow">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402531EE-2C57-1978-59F6-BEB8BA47CA63}"/>
              </a:ext>
            </a:extLst>
          </p:cNvPr>
          <p:cNvSpPr txBox="1"/>
          <p:nvPr/>
        </p:nvSpPr>
        <p:spPr>
          <a:xfrm>
            <a:off x="10058402" y="1901961"/>
            <a:ext cx="2086098" cy="1815882"/>
          </a:xfrm>
          <a:prstGeom prst="rect">
            <a:avLst/>
          </a:prstGeom>
          <a:noFill/>
          <a:ln>
            <a:solidFill>
              <a:schemeClr val="bg1"/>
            </a:solidFill>
          </a:ln>
        </p:spPr>
        <p:txBody>
          <a:bodyPr wrap="square" rtlCol="0">
            <a:spAutoFit/>
          </a:bodyPr>
          <a:lstStyle/>
          <a:p>
            <a:pPr algn="ctr"/>
            <a:r>
              <a:rPr lang="en-US" sz="1600" b="1" dirty="0">
                <a:solidFill>
                  <a:schemeClr val="bg1"/>
                </a:solidFill>
              </a:rPr>
              <a:t>If 1 order = $20 on avg</a:t>
            </a:r>
          </a:p>
          <a:p>
            <a:pPr algn="ctr"/>
            <a:r>
              <a:rPr lang="en-US" sz="1600" b="1" dirty="0">
                <a:solidFill>
                  <a:schemeClr val="bg1"/>
                </a:solidFill>
              </a:rPr>
              <a:t>Then if 500 cancellations are prevented, it could benefit us by $10,000</a:t>
            </a:r>
          </a:p>
        </p:txBody>
      </p:sp>
    </p:spTree>
    <p:extLst>
      <p:ext uri="{BB962C8B-B14F-4D97-AF65-F5344CB8AC3E}">
        <p14:creationId xmlns:p14="http://schemas.microsoft.com/office/powerpoint/2010/main" val="730203061"/>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F21B9EE-A88A-8E64-6D96-5E522D8738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027FCE-302B-D8D4-06CE-B681CB2C4145}"/>
              </a:ext>
            </a:extLst>
          </p:cNvPr>
          <p:cNvSpPr>
            <a:spLocks noGrp="1"/>
          </p:cNvSpPr>
          <p:nvPr>
            <p:ph type="title"/>
          </p:nvPr>
        </p:nvSpPr>
        <p:spPr>
          <a:xfrm>
            <a:off x="676893" y="230590"/>
            <a:ext cx="8799615" cy="647199"/>
          </a:xfrm>
        </p:spPr>
        <p:txBody>
          <a:bodyPr>
            <a:noAutofit/>
          </a:bodyPr>
          <a:lstStyle/>
          <a:p>
            <a:pPr algn="r"/>
            <a:r>
              <a:rPr lang="en-US" sz="4000" b="1" dirty="0">
                <a:solidFill>
                  <a:schemeClr val="bg1"/>
                </a:solidFill>
              </a:rPr>
              <a:t>Performance Assessment Review</a:t>
            </a:r>
          </a:p>
        </p:txBody>
      </p:sp>
      <p:sp>
        <p:nvSpPr>
          <p:cNvPr id="3" name="Content Placeholder 2">
            <a:extLst>
              <a:ext uri="{FF2B5EF4-FFF2-40B4-BE49-F238E27FC236}">
                <a16:creationId xmlns:a16="http://schemas.microsoft.com/office/drawing/2014/main" id="{3E397521-FD89-5090-7B63-58CAC6F24902}"/>
              </a:ext>
            </a:extLst>
          </p:cNvPr>
          <p:cNvSpPr>
            <a:spLocks noGrp="1"/>
          </p:cNvSpPr>
          <p:nvPr>
            <p:ph idx="1"/>
          </p:nvPr>
        </p:nvSpPr>
        <p:spPr>
          <a:xfrm>
            <a:off x="455811" y="996539"/>
            <a:ext cx="11280378" cy="647199"/>
          </a:xfrm>
        </p:spPr>
        <p:txBody>
          <a:bodyPr>
            <a:noAutofit/>
          </a:bodyPr>
          <a:lstStyle/>
          <a:p>
            <a:pPr marL="0" indent="0">
              <a:buNone/>
            </a:pPr>
            <a:r>
              <a:rPr lang="en-US" sz="1800" b="1" i="1" dirty="0">
                <a:solidFill>
                  <a:schemeClr val="bg1"/>
                </a:solidFill>
              </a:rPr>
              <a:t>Question 2: </a:t>
            </a:r>
            <a:r>
              <a:rPr lang="en-US" sz="1800" dirty="0">
                <a:solidFill>
                  <a:schemeClr val="bg1"/>
                </a:solidFill>
              </a:rPr>
              <a:t>Assessing pros and cons of the current situation for a clear idea of performance assessment? (June 2023)</a:t>
            </a:r>
          </a:p>
          <a:p>
            <a:pPr marL="0" indent="0">
              <a:buNone/>
            </a:pPr>
            <a:endParaRPr lang="en-US" sz="1800" dirty="0">
              <a:solidFill>
                <a:schemeClr val="bg1"/>
              </a:solidFill>
            </a:endParaRPr>
          </a:p>
          <a:p>
            <a:pPr marL="0" indent="0">
              <a:buNone/>
            </a:pPr>
            <a:endParaRPr lang="en-US" sz="2000" dirty="0">
              <a:solidFill>
                <a:schemeClr val="bg1"/>
              </a:solidFill>
            </a:endParaRPr>
          </a:p>
          <a:p>
            <a:pPr marL="0" indent="0">
              <a:buNone/>
            </a:pPr>
            <a:endParaRPr lang="en-US" sz="1800" dirty="0">
              <a:solidFill>
                <a:schemeClr val="bg1"/>
              </a:solidFill>
            </a:endParaRPr>
          </a:p>
          <a:p>
            <a:pPr marL="0" indent="0">
              <a:buNone/>
            </a:pPr>
            <a:endParaRPr lang="en-US" sz="1800" dirty="0">
              <a:solidFill>
                <a:schemeClr val="bg1"/>
              </a:solidFill>
            </a:endParaRPr>
          </a:p>
          <a:p>
            <a:pPr marL="0" indent="0">
              <a:buNone/>
            </a:pPr>
            <a:endParaRPr lang="en-US" sz="1800" i="1" dirty="0">
              <a:solidFill>
                <a:schemeClr val="bg1"/>
              </a:solidFill>
            </a:endParaRPr>
          </a:p>
          <a:p>
            <a:pPr marL="0" indent="0">
              <a:buNone/>
            </a:pPr>
            <a:endParaRPr lang="en-US" sz="2400" i="1" dirty="0">
              <a:solidFill>
                <a:schemeClr val="bg1"/>
              </a:solidFill>
            </a:endParaRPr>
          </a:p>
          <a:p>
            <a:pPr marL="0" indent="0">
              <a:buNone/>
            </a:pPr>
            <a:endParaRPr lang="en-US" sz="2400" i="1" dirty="0">
              <a:solidFill>
                <a:schemeClr val="bg1"/>
              </a:solidFill>
            </a:endParaRPr>
          </a:p>
          <a:p>
            <a:pPr marL="0" indent="0">
              <a:buNone/>
            </a:pPr>
            <a:endParaRPr lang="en-US" sz="2400" i="1" dirty="0">
              <a:solidFill>
                <a:schemeClr val="bg1"/>
              </a:solidFill>
            </a:endParaRPr>
          </a:p>
        </p:txBody>
      </p:sp>
      <p:sp>
        <p:nvSpPr>
          <p:cNvPr id="5" name="TextBox 4">
            <a:extLst>
              <a:ext uri="{FF2B5EF4-FFF2-40B4-BE49-F238E27FC236}">
                <a16:creationId xmlns:a16="http://schemas.microsoft.com/office/drawing/2014/main" id="{6957E022-BCDD-CD46-8299-939763C43BCA}"/>
              </a:ext>
            </a:extLst>
          </p:cNvPr>
          <p:cNvSpPr txBox="1"/>
          <p:nvPr/>
        </p:nvSpPr>
        <p:spPr>
          <a:xfrm>
            <a:off x="1000125" y="1543038"/>
            <a:ext cx="3543300" cy="584775"/>
          </a:xfrm>
          <a:prstGeom prst="rect">
            <a:avLst/>
          </a:prstGeom>
          <a:noFill/>
        </p:spPr>
        <p:txBody>
          <a:bodyPr wrap="square" rtlCol="0">
            <a:spAutoFit/>
          </a:bodyPr>
          <a:lstStyle/>
          <a:p>
            <a:pPr algn="ctr"/>
            <a:r>
              <a:rPr lang="en-US" sz="3200" b="1" dirty="0">
                <a:solidFill>
                  <a:schemeClr val="bg1"/>
                </a:solidFill>
              </a:rPr>
              <a:t>PROS</a:t>
            </a:r>
          </a:p>
        </p:txBody>
      </p:sp>
      <p:sp>
        <p:nvSpPr>
          <p:cNvPr id="7" name="TextBox 6">
            <a:extLst>
              <a:ext uri="{FF2B5EF4-FFF2-40B4-BE49-F238E27FC236}">
                <a16:creationId xmlns:a16="http://schemas.microsoft.com/office/drawing/2014/main" id="{914E5B2A-A21D-F2ED-2CC9-89527CB569EB}"/>
              </a:ext>
            </a:extLst>
          </p:cNvPr>
          <p:cNvSpPr txBox="1"/>
          <p:nvPr/>
        </p:nvSpPr>
        <p:spPr>
          <a:xfrm>
            <a:off x="7302782" y="1529426"/>
            <a:ext cx="3543300" cy="584775"/>
          </a:xfrm>
          <a:prstGeom prst="rect">
            <a:avLst/>
          </a:prstGeom>
          <a:noFill/>
        </p:spPr>
        <p:txBody>
          <a:bodyPr wrap="square" rtlCol="0">
            <a:spAutoFit/>
          </a:bodyPr>
          <a:lstStyle/>
          <a:p>
            <a:pPr algn="ctr"/>
            <a:r>
              <a:rPr lang="en-US" sz="3200" b="1" dirty="0">
                <a:solidFill>
                  <a:schemeClr val="bg1"/>
                </a:solidFill>
              </a:rPr>
              <a:t>CONS</a:t>
            </a:r>
          </a:p>
        </p:txBody>
      </p:sp>
      <p:sp>
        <p:nvSpPr>
          <p:cNvPr id="9" name="TextBox 8">
            <a:extLst>
              <a:ext uri="{FF2B5EF4-FFF2-40B4-BE49-F238E27FC236}">
                <a16:creationId xmlns:a16="http://schemas.microsoft.com/office/drawing/2014/main" id="{60A19C5C-3A90-5FDF-59F4-6729EDBD8E4C}"/>
              </a:ext>
            </a:extLst>
          </p:cNvPr>
          <p:cNvSpPr txBox="1"/>
          <p:nvPr/>
        </p:nvSpPr>
        <p:spPr>
          <a:xfrm>
            <a:off x="142872" y="2071666"/>
            <a:ext cx="5853112" cy="3416320"/>
          </a:xfrm>
          <a:prstGeom prst="rect">
            <a:avLst/>
          </a:prstGeom>
          <a:noFill/>
          <a:ln>
            <a:noFill/>
          </a:ln>
          <a:effectLst/>
        </p:spPr>
        <p:txBody>
          <a:bodyPr wrap="square" rtlCol="0">
            <a:spAutoFit/>
          </a:bodyPr>
          <a:lstStyle/>
          <a:p>
            <a:pPr marL="285750" indent="-285750">
              <a:buFont typeface="Arial" panose="020B0604020202020204" pitchFamily="34" charset="0"/>
              <a:buChar char="•"/>
            </a:pPr>
            <a:r>
              <a:rPr lang="en-US" dirty="0">
                <a:solidFill>
                  <a:schemeClr val="bg1"/>
                </a:solidFill>
              </a:rPr>
              <a:t>We have a great overall catalog with </a:t>
            </a:r>
            <a:r>
              <a:rPr lang="en-US" b="1" dirty="0">
                <a:solidFill>
                  <a:schemeClr val="bg1"/>
                </a:solidFill>
              </a:rPr>
              <a:t>strong</a:t>
            </a:r>
            <a:r>
              <a:rPr lang="en-US" dirty="0">
                <a:solidFill>
                  <a:schemeClr val="bg1"/>
                </a:solidFill>
              </a:rPr>
              <a:t> </a:t>
            </a:r>
            <a:r>
              <a:rPr lang="en-US" b="1" dirty="0">
                <a:solidFill>
                  <a:schemeClr val="bg1"/>
                </a:solidFill>
              </a:rPr>
              <a:t>Found</a:t>
            </a:r>
            <a:r>
              <a:rPr lang="en-US" dirty="0">
                <a:solidFill>
                  <a:schemeClr val="bg1"/>
                </a:solidFill>
              </a:rPr>
              <a:t> </a:t>
            </a:r>
            <a:r>
              <a:rPr lang="en-US" b="1" dirty="0">
                <a:solidFill>
                  <a:schemeClr val="bg1"/>
                </a:solidFill>
              </a:rPr>
              <a:t>Rate</a:t>
            </a:r>
            <a:r>
              <a:rPr lang="en-US" dirty="0">
                <a:solidFill>
                  <a:schemeClr val="bg1"/>
                </a:solidFill>
              </a:rPr>
              <a:t>( 89.7%) &amp; </a:t>
            </a:r>
            <a:r>
              <a:rPr lang="en-US" b="1" dirty="0">
                <a:solidFill>
                  <a:schemeClr val="bg1"/>
                </a:solidFill>
              </a:rPr>
              <a:t>low</a:t>
            </a:r>
            <a:r>
              <a:rPr lang="en-US" dirty="0">
                <a:solidFill>
                  <a:schemeClr val="bg1"/>
                </a:solidFill>
              </a:rPr>
              <a:t> </a:t>
            </a:r>
            <a:r>
              <a:rPr lang="en-US" b="1" dirty="0">
                <a:solidFill>
                  <a:schemeClr val="bg1"/>
                </a:solidFill>
              </a:rPr>
              <a:t>% OOS</a:t>
            </a:r>
            <a:r>
              <a:rPr lang="en-US" dirty="0">
                <a:solidFill>
                  <a:schemeClr val="bg1"/>
                </a:solidFill>
              </a:rPr>
              <a:t>.   </a:t>
            </a:r>
          </a:p>
          <a:p>
            <a:pPr marL="285750" indent="-285750">
              <a:buFont typeface="Arial" panose="020B0604020202020204" pitchFamily="34" charset="0"/>
              <a:buChar char="•"/>
            </a:pPr>
            <a:r>
              <a:rPr lang="en-US" b="1" dirty="0">
                <a:solidFill>
                  <a:schemeClr val="bg1"/>
                </a:solidFill>
              </a:rPr>
              <a:t>Proven top performers </a:t>
            </a:r>
            <a:r>
              <a:rPr lang="en-US" dirty="0">
                <a:solidFill>
                  <a:schemeClr val="bg1"/>
                </a:solidFill>
              </a:rPr>
              <a:t>include – </a:t>
            </a:r>
            <a:r>
              <a:rPr lang="en-US" b="1" dirty="0" err="1">
                <a:solidFill>
                  <a:schemeClr val="bg1"/>
                </a:solidFill>
              </a:rPr>
              <a:t>Farmacias</a:t>
            </a:r>
            <a:r>
              <a:rPr lang="en-US" b="1" dirty="0">
                <a:solidFill>
                  <a:schemeClr val="bg1"/>
                </a:solidFill>
              </a:rPr>
              <a:t> Ahumada </a:t>
            </a:r>
            <a:r>
              <a:rPr lang="en-US" dirty="0">
                <a:solidFill>
                  <a:schemeClr val="bg1"/>
                </a:solidFill>
              </a:rPr>
              <a:t>in </a:t>
            </a:r>
            <a:r>
              <a:rPr lang="en-US" b="1" dirty="0" err="1">
                <a:solidFill>
                  <a:schemeClr val="bg1"/>
                </a:solidFill>
              </a:rPr>
              <a:t>Valpraiso</a:t>
            </a:r>
            <a:r>
              <a:rPr lang="en-US" dirty="0">
                <a:solidFill>
                  <a:schemeClr val="bg1"/>
                </a:solidFill>
              </a:rPr>
              <a:t> &amp; </a:t>
            </a:r>
            <a:r>
              <a:rPr lang="en-US" b="1" dirty="0">
                <a:solidFill>
                  <a:schemeClr val="bg1"/>
                </a:solidFill>
              </a:rPr>
              <a:t>La</a:t>
            </a:r>
            <a:r>
              <a:rPr lang="en-US" dirty="0">
                <a:solidFill>
                  <a:schemeClr val="bg1"/>
                </a:solidFill>
              </a:rPr>
              <a:t> </a:t>
            </a:r>
            <a:r>
              <a:rPr lang="en-US" b="1" dirty="0">
                <a:solidFill>
                  <a:schemeClr val="bg1"/>
                </a:solidFill>
              </a:rPr>
              <a:t>Serena</a:t>
            </a:r>
            <a:r>
              <a:rPr lang="en-US" dirty="0">
                <a:solidFill>
                  <a:schemeClr val="bg1"/>
                </a:solidFill>
              </a:rPr>
              <a:t>. Shows us how we can surely achieve </a:t>
            </a:r>
            <a:r>
              <a:rPr lang="en-US" b="1" dirty="0">
                <a:solidFill>
                  <a:schemeClr val="bg1"/>
                </a:solidFill>
              </a:rPr>
              <a:t>high Found Rate &amp; low OOS %.</a:t>
            </a:r>
            <a:endParaRPr lang="en-US" dirty="0">
              <a:solidFill>
                <a:schemeClr val="bg1"/>
              </a:solidFill>
            </a:endParaRPr>
          </a:p>
          <a:p>
            <a:pPr marL="285750" indent="-285750">
              <a:buFont typeface="Arial" panose="020B0604020202020204" pitchFamily="34" charset="0"/>
              <a:buChar char="•"/>
            </a:pPr>
            <a:r>
              <a:rPr lang="en-US" dirty="0">
                <a:solidFill>
                  <a:schemeClr val="bg1"/>
                </a:solidFill>
              </a:rPr>
              <a:t>We can also draw a clear relation between </a:t>
            </a:r>
            <a:r>
              <a:rPr lang="en-US" b="1" dirty="0">
                <a:solidFill>
                  <a:schemeClr val="bg1"/>
                </a:solidFill>
              </a:rPr>
              <a:t>Lower % OOS                   Higher % Available                  Higher FR.</a:t>
            </a:r>
          </a:p>
          <a:p>
            <a:pPr marL="285750" indent="-285750">
              <a:buFont typeface="Arial" panose="020B0604020202020204" pitchFamily="34" charset="0"/>
              <a:buChar char="•"/>
            </a:pPr>
            <a:r>
              <a:rPr lang="en-US" dirty="0">
                <a:solidFill>
                  <a:schemeClr val="bg1"/>
                </a:solidFill>
              </a:rPr>
              <a:t>We can scale this strategy for the stores &amp; cities that are performing well to similar regions. (Regions that have similar FR or a lower % OOS).</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endParaRPr lang="en-US" dirty="0">
              <a:solidFill>
                <a:schemeClr val="bg1"/>
              </a:solidFill>
            </a:endParaRPr>
          </a:p>
        </p:txBody>
      </p:sp>
      <p:sp>
        <p:nvSpPr>
          <p:cNvPr id="10" name="TextBox 9">
            <a:extLst>
              <a:ext uri="{FF2B5EF4-FFF2-40B4-BE49-F238E27FC236}">
                <a16:creationId xmlns:a16="http://schemas.microsoft.com/office/drawing/2014/main" id="{16D6AD87-2EEE-72C4-9FC5-1542115F11E8}"/>
              </a:ext>
            </a:extLst>
          </p:cNvPr>
          <p:cNvSpPr txBox="1"/>
          <p:nvPr/>
        </p:nvSpPr>
        <p:spPr>
          <a:xfrm>
            <a:off x="6096000" y="2071666"/>
            <a:ext cx="5956865" cy="3693319"/>
          </a:xfrm>
          <a:prstGeom prst="rect">
            <a:avLst/>
          </a:prstGeom>
          <a:noFill/>
          <a:ln>
            <a:noFill/>
          </a:ln>
        </p:spPr>
        <p:txBody>
          <a:bodyPr wrap="square" rtlCol="0">
            <a:spAutoFit/>
          </a:bodyPr>
          <a:lstStyle/>
          <a:p>
            <a:pPr marL="285750" indent="-285750">
              <a:buFont typeface="Arial" panose="020B0604020202020204" pitchFamily="34" charset="0"/>
              <a:buChar char="•"/>
            </a:pPr>
            <a:r>
              <a:rPr lang="en-US" dirty="0">
                <a:solidFill>
                  <a:schemeClr val="bg1"/>
                </a:solidFill>
              </a:rPr>
              <a:t>Some stores and cities are not adapting to the </a:t>
            </a:r>
            <a:r>
              <a:rPr lang="en-US" b="1" dirty="0">
                <a:solidFill>
                  <a:schemeClr val="bg1"/>
                </a:solidFill>
              </a:rPr>
              <a:t>one size fits all strategy</a:t>
            </a:r>
            <a:r>
              <a:rPr lang="en-US" dirty="0">
                <a:solidFill>
                  <a:schemeClr val="bg1"/>
                </a:solidFill>
              </a:rPr>
              <a:t> and will need modifications to boost performance.</a:t>
            </a:r>
          </a:p>
          <a:p>
            <a:pPr marL="285750" indent="-285750">
              <a:buFont typeface="Arial" panose="020B0604020202020204" pitchFamily="34" charset="0"/>
              <a:buChar char="•"/>
            </a:pPr>
            <a:r>
              <a:rPr lang="en-US" dirty="0">
                <a:solidFill>
                  <a:schemeClr val="bg1"/>
                </a:solidFill>
              </a:rPr>
              <a:t>We need to work more on the </a:t>
            </a:r>
            <a:r>
              <a:rPr lang="en-US" b="1" dirty="0">
                <a:solidFill>
                  <a:schemeClr val="bg1"/>
                </a:solidFill>
              </a:rPr>
              <a:t>shopper feedback mechanism</a:t>
            </a:r>
            <a:r>
              <a:rPr lang="en-US" dirty="0">
                <a:solidFill>
                  <a:schemeClr val="bg1"/>
                </a:solidFill>
              </a:rPr>
              <a:t> since the dataset does not provide pain points that the customer is facing. </a:t>
            </a:r>
          </a:p>
          <a:p>
            <a:pPr marL="285750" indent="-285750">
              <a:buFont typeface="Arial" panose="020B0604020202020204" pitchFamily="34" charset="0"/>
              <a:buChar char="•"/>
            </a:pPr>
            <a:r>
              <a:rPr lang="en-US" b="1" dirty="0">
                <a:solidFill>
                  <a:schemeClr val="bg1"/>
                </a:solidFill>
              </a:rPr>
              <a:t>High unfulfillment rate = Poor Customer Experience</a:t>
            </a:r>
          </a:p>
          <a:p>
            <a:pPr marL="285750" indent="-285750">
              <a:buFont typeface="Arial" panose="020B0604020202020204" pitchFamily="34" charset="0"/>
              <a:buChar char="•"/>
            </a:pPr>
            <a:r>
              <a:rPr lang="en-US" dirty="0">
                <a:solidFill>
                  <a:schemeClr val="bg1"/>
                </a:solidFill>
              </a:rPr>
              <a:t>Some products are </a:t>
            </a:r>
            <a:r>
              <a:rPr lang="en-US" b="1" dirty="0">
                <a:solidFill>
                  <a:schemeClr val="bg1"/>
                </a:solidFill>
              </a:rPr>
              <a:t>high risk </a:t>
            </a:r>
            <a:r>
              <a:rPr lang="en-US" dirty="0">
                <a:solidFill>
                  <a:schemeClr val="bg1"/>
                </a:solidFill>
              </a:rPr>
              <a:t>which means that the </a:t>
            </a:r>
            <a:r>
              <a:rPr lang="en-US" b="1" dirty="0">
                <a:solidFill>
                  <a:schemeClr val="bg1"/>
                </a:solidFill>
              </a:rPr>
              <a:t>% Out of stock is higher</a:t>
            </a:r>
            <a:r>
              <a:rPr lang="en-US" dirty="0">
                <a:solidFill>
                  <a:schemeClr val="bg1"/>
                </a:solidFill>
              </a:rPr>
              <a:t> and it also has a </a:t>
            </a:r>
            <a:r>
              <a:rPr lang="en-US" b="1" dirty="0">
                <a:solidFill>
                  <a:schemeClr val="bg1"/>
                </a:solidFill>
              </a:rPr>
              <a:t>higher active number of products</a:t>
            </a:r>
            <a:r>
              <a:rPr lang="en-US" dirty="0">
                <a:solidFill>
                  <a:schemeClr val="bg1"/>
                </a:solidFill>
              </a:rPr>
              <a:t>. ( </a:t>
            </a:r>
            <a:r>
              <a:rPr lang="en-US" dirty="0" err="1">
                <a:solidFill>
                  <a:schemeClr val="bg1"/>
                </a:solidFill>
              </a:rPr>
              <a:t>eg</a:t>
            </a:r>
            <a:r>
              <a:rPr lang="en-US" dirty="0">
                <a:solidFill>
                  <a:schemeClr val="bg1"/>
                </a:solidFill>
              </a:rPr>
              <a:t> : ‘</a:t>
            </a:r>
            <a:r>
              <a:rPr lang="en-US" dirty="0" err="1">
                <a:solidFill>
                  <a:schemeClr val="bg1"/>
                </a:solidFill>
              </a:rPr>
              <a:t>Detergente</a:t>
            </a:r>
            <a:r>
              <a:rPr lang="en-US" dirty="0">
                <a:solidFill>
                  <a:schemeClr val="bg1"/>
                </a:solidFill>
              </a:rPr>
              <a:t> </a:t>
            </a:r>
            <a:r>
              <a:rPr lang="en-US" dirty="0" err="1">
                <a:solidFill>
                  <a:schemeClr val="bg1"/>
                </a:solidFill>
              </a:rPr>
              <a:t>Liquido</a:t>
            </a:r>
            <a:r>
              <a:rPr lang="en-US" dirty="0">
                <a:solidFill>
                  <a:schemeClr val="bg1"/>
                </a:solidFill>
              </a:rPr>
              <a:t>’, Active – 51, % OOS – 31.37)</a:t>
            </a:r>
          </a:p>
          <a:p>
            <a:endParaRPr lang="en-US" dirty="0">
              <a:solidFill>
                <a:schemeClr val="bg1"/>
              </a:solidFill>
            </a:endParaRPr>
          </a:p>
          <a:p>
            <a:pPr marL="285750" indent="-285750">
              <a:buFont typeface="Arial" panose="020B0604020202020204" pitchFamily="34" charset="0"/>
              <a:buChar char="•"/>
            </a:pPr>
            <a:endParaRPr lang="en-US" dirty="0">
              <a:solidFill>
                <a:schemeClr val="bg1"/>
              </a:solidFill>
            </a:endParaRPr>
          </a:p>
        </p:txBody>
      </p:sp>
      <p:sp>
        <p:nvSpPr>
          <p:cNvPr id="11" name="Right Arrow 10">
            <a:extLst>
              <a:ext uri="{FF2B5EF4-FFF2-40B4-BE49-F238E27FC236}">
                <a16:creationId xmlns:a16="http://schemas.microsoft.com/office/drawing/2014/main" id="{E9723ECB-D3E6-828B-D8BA-9BE811382767}"/>
              </a:ext>
            </a:extLst>
          </p:cNvPr>
          <p:cNvSpPr/>
          <p:nvPr/>
        </p:nvSpPr>
        <p:spPr>
          <a:xfrm>
            <a:off x="1171575" y="3843321"/>
            <a:ext cx="614363" cy="128588"/>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a:extLst>
              <a:ext uri="{FF2B5EF4-FFF2-40B4-BE49-F238E27FC236}">
                <a16:creationId xmlns:a16="http://schemas.microsoft.com/office/drawing/2014/main" id="{095C9205-C747-B804-CAB2-011D6D67C492}"/>
              </a:ext>
            </a:extLst>
          </p:cNvPr>
          <p:cNvSpPr/>
          <p:nvPr/>
        </p:nvSpPr>
        <p:spPr>
          <a:xfrm>
            <a:off x="3886200" y="3843321"/>
            <a:ext cx="614363" cy="128588"/>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55D7E8F8-B88A-6BD8-CCA4-9C01941BF24C}"/>
              </a:ext>
            </a:extLst>
          </p:cNvPr>
          <p:cNvSpPr txBox="1"/>
          <p:nvPr/>
        </p:nvSpPr>
        <p:spPr>
          <a:xfrm>
            <a:off x="5331615" y="1563576"/>
            <a:ext cx="1328737" cy="584775"/>
          </a:xfrm>
          <a:prstGeom prst="rect">
            <a:avLst/>
          </a:prstGeom>
          <a:noFill/>
        </p:spPr>
        <p:txBody>
          <a:bodyPr wrap="square" rtlCol="0">
            <a:spAutoFit/>
          </a:bodyPr>
          <a:lstStyle/>
          <a:p>
            <a:pPr algn="ctr"/>
            <a:r>
              <a:rPr lang="en-US" sz="3200" b="1" dirty="0">
                <a:solidFill>
                  <a:schemeClr val="bg1"/>
                </a:solidFill>
              </a:rPr>
              <a:t>VS</a:t>
            </a:r>
          </a:p>
        </p:txBody>
      </p:sp>
      <p:sp>
        <p:nvSpPr>
          <p:cNvPr id="14" name="TextBox 13">
            <a:extLst>
              <a:ext uri="{FF2B5EF4-FFF2-40B4-BE49-F238E27FC236}">
                <a16:creationId xmlns:a16="http://schemas.microsoft.com/office/drawing/2014/main" id="{8582357E-3506-BE38-B7DC-8EE03047F753}"/>
              </a:ext>
            </a:extLst>
          </p:cNvPr>
          <p:cNvSpPr txBox="1"/>
          <p:nvPr/>
        </p:nvSpPr>
        <p:spPr>
          <a:xfrm>
            <a:off x="5088726" y="5222984"/>
            <a:ext cx="1814513" cy="584775"/>
          </a:xfrm>
          <a:prstGeom prst="rect">
            <a:avLst/>
          </a:prstGeom>
          <a:noFill/>
        </p:spPr>
        <p:txBody>
          <a:bodyPr wrap="square" rtlCol="0">
            <a:spAutoFit/>
          </a:bodyPr>
          <a:lstStyle/>
          <a:p>
            <a:pPr algn="ctr"/>
            <a:r>
              <a:rPr lang="en-US" sz="3200" b="1" dirty="0">
                <a:solidFill>
                  <a:schemeClr val="bg1"/>
                </a:solidFill>
              </a:rPr>
              <a:t>Verdict?</a:t>
            </a:r>
          </a:p>
        </p:txBody>
      </p:sp>
      <p:sp>
        <p:nvSpPr>
          <p:cNvPr id="16" name="TextBox 15">
            <a:extLst>
              <a:ext uri="{FF2B5EF4-FFF2-40B4-BE49-F238E27FC236}">
                <a16:creationId xmlns:a16="http://schemas.microsoft.com/office/drawing/2014/main" id="{39ECD644-DCD8-6580-643A-13D445A2408C}"/>
              </a:ext>
            </a:extLst>
          </p:cNvPr>
          <p:cNvSpPr txBox="1"/>
          <p:nvPr/>
        </p:nvSpPr>
        <p:spPr>
          <a:xfrm>
            <a:off x="142872" y="5790021"/>
            <a:ext cx="11909993" cy="1015663"/>
          </a:xfrm>
          <a:prstGeom prst="rect">
            <a:avLst/>
          </a:prstGeom>
          <a:noFill/>
        </p:spPr>
        <p:txBody>
          <a:bodyPr wrap="square" rtlCol="0">
            <a:spAutoFit/>
          </a:bodyPr>
          <a:lstStyle/>
          <a:p>
            <a:pPr algn="ctr"/>
            <a:r>
              <a:rPr lang="en-US" sz="2000" dirty="0">
                <a:solidFill>
                  <a:schemeClr val="bg1"/>
                </a:solidFill>
              </a:rPr>
              <a:t>My takeaway from this is that the performance is good but it is also uneven at the same time. We have some performers doing extremely well with the current strategy but with a few tweaks for the ones not performing, we could scale this and improve our entire system.</a:t>
            </a:r>
          </a:p>
        </p:txBody>
      </p:sp>
    </p:spTree>
    <p:extLst>
      <p:ext uri="{BB962C8B-B14F-4D97-AF65-F5344CB8AC3E}">
        <p14:creationId xmlns:p14="http://schemas.microsoft.com/office/powerpoint/2010/main" val="113421958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BBDB1BD-5207-424D-2FAE-AD59FDF187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6B30E8-5B94-76A5-FCD7-FD5C9DB08C3C}"/>
              </a:ext>
            </a:extLst>
          </p:cNvPr>
          <p:cNvSpPr>
            <a:spLocks noGrp="1"/>
          </p:cNvSpPr>
          <p:nvPr>
            <p:ph type="title"/>
          </p:nvPr>
        </p:nvSpPr>
        <p:spPr>
          <a:xfrm>
            <a:off x="676893" y="230590"/>
            <a:ext cx="8799615" cy="647199"/>
          </a:xfrm>
        </p:spPr>
        <p:txBody>
          <a:bodyPr>
            <a:noAutofit/>
          </a:bodyPr>
          <a:lstStyle/>
          <a:p>
            <a:pPr algn="r"/>
            <a:r>
              <a:rPr lang="en-US" sz="4000" b="1" dirty="0">
                <a:solidFill>
                  <a:schemeClr val="bg1"/>
                </a:solidFill>
              </a:rPr>
              <a:t>Steps for Improving Catalog Quality</a:t>
            </a:r>
          </a:p>
        </p:txBody>
      </p:sp>
      <p:sp>
        <p:nvSpPr>
          <p:cNvPr id="3" name="Content Placeholder 2">
            <a:extLst>
              <a:ext uri="{FF2B5EF4-FFF2-40B4-BE49-F238E27FC236}">
                <a16:creationId xmlns:a16="http://schemas.microsoft.com/office/drawing/2014/main" id="{3A7412DB-DA90-AC03-5846-1825E5808114}"/>
              </a:ext>
            </a:extLst>
          </p:cNvPr>
          <p:cNvSpPr>
            <a:spLocks noGrp="1"/>
          </p:cNvSpPr>
          <p:nvPr>
            <p:ph idx="1"/>
          </p:nvPr>
        </p:nvSpPr>
        <p:spPr>
          <a:xfrm>
            <a:off x="112904" y="996539"/>
            <a:ext cx="11280378" cy="647199"/>
          </a:xfrm>
        </p:spPr>
        <p:txBody>
          <a:bodyPr>
            <a:noAutofit/>
          </a:bodyPr>
          <a:lstStyle/>
          <a:p>
            <a:pPr marL="0" indent="0" algn="ctr">
              <a:buNone/>
            </a:pPr>
            <a:r>
              <a:rPr lang="en-US" sz="2400" b="1" i="1" dirty="0">
                <a:solidFill>
                  <a:schemeClr val="bg1"/>
                </a:solidFill>
              </a:rPr>
              <a:t>I would follow 30-60-90 Plan of Action that I am going to describe below</a:t>
            </a:r>
            <a:endParaRPr lang="en-US" dirty="0">
              <a:solidFill>
                <a:schemeClr val="bg1"/>
              </a:solidFill>
            </a:endParaRPr>
          </a:p>
          <a:p>
            <a:pPr marL="0" indent="0" algn="ctr">
              <a:buNone/>
            </a:pPr>
            <a:endParaRPr lang="en-US" sz="2400" dirty="0">
              <a:solidFill>
                <a:schemeClr val="bg1"/>
              </a:solidFill>
            </a:endParaRPr>
          </a:p>
          <a:p>
            <a:pPr marL="0" indent="0" algn="ctr">
              <a:buNone/>
            </a:pPr>
            <a:endParaRPr lang="en-US" sz="2400" dirty="0">
              <a:solidFill>
                <a:schemeClr val="bg1"/>
              </a:solidFill>
            </a:endParaRPr>
          </a:p>
          <a:p>
            <a:pPr marL="0" indent="0" algn="ctr">
              <a:buNone/>
            </a:pPr>
            <a:endParaRPr lang="en-US" sz="2400" i="1" dirty="0">
              <a:solidFill>
                <a:schemeClr val="bg1"/>
              </a:solidFill>
            </a:endParaRPr>
          </a:p>
          <a:p>
            <a:pPr marL="0" indent="0" algn="ctr">
              <a:buNone/>
            </a:pPr>
            <a:endParaRPr lang="en-US" sz="3200" i="1" dirty="0">
              <a:solidFill>
                <a:schemeClr val="bg1"/>
              </a:solidFill>
            </a:endParaRPr>
          </a:p>
          <a:p>
            <a:pPr marL="0" indent="0" algn="ctr">
              <a:buNone/>
            </a:pPr>
            <a:endParaRPr lang="en-US" sz="3200" i="1" dirty="0">
              <a:solidFill>
                <a:schemeClr val="bg1"/>
              </a:solidFill>
            </a:endParaRPr>
          </a:p>
          <a:p>
            <a:pPr marL="0" indent="0" algn="ctr">
              <a:buNone/>
            </a:pPr>
            <a:endParaRPr lang="en-US" sz="3200" i="1" dirty="0">
              <a:solidFill>
                <a:schemeClr val="bg1"/>
              </a:solidFill>
            </a:endParaRPr>
          </a:p>
        </p:txBody>
      </p:sp>
      <p:sp>
        <p:nvSpPr>
          <p:cNvPr id="6" name="Rounded Rectangle 5">
            <a:extLst>
              <a:ext uri="{FF2B5EF4-FFF2-40B4-BE49-F238E27FC236}">
                <a16:creationId xmlns:a16="http://schemas.microsoft.com/office/drawing/2014/main" id="{04713386-21FE-BE56-648D-72AE9442F5D7}"/>
              </a:ext>
            </a:extLst>
          </p:cNvPr>
          <p:cNvSpPr/>
          <p:nvPr/>
        </p:nvSpPr>
        <p:spPr>
          <a:xfrm>
            <a:off x="384376" y="1605314"/>
            <a:ext cx="3433763" cy="4995074"/>
          </a:xfrm>
          <a:prstGeom prst="roundRect">
            <a:avLst/>
          </a:prstGeom>
          <a:solidFill>
            <a:schemeClr val="bg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ounded Rectangle 7">
            <a:extLst>
              <a:ext uri="{FF2B5EF4-FFF2-40B4-BE49-F238E27FC236}">
                <a16:creationId xmlns:a16="http://schemas.microsoft.com/office/drawing/2014/main" id="{2BD48521-2389-36D9-B378-EC6B6788ED37}"/>
              </a:ext>
            </a:extLst>
          </p:cNvPr>
          <p:cNvSpPr/>
          <p:nvPr/>
        </p:nvSpPr>
        <p:spPr>
          <a:xfrm>
            <a:off x="4397480" y="1632336"/>
            <a:ext cx="3433763" cy="4995074"/>
          </a:xfrm>
          <a:prstGeom prst="roundRect">
            <a:avLst/>
          </a:prstGeom>
          <a:solidFill>
            <a:schemeClr val="bg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A1C8244C-3F67-1B7C-337F-1F2FEFF7F6EB}"/>
              </a:ext>
            </a:extLst>
          </p:cNvPr>
          <p:cNvSpPr/>
          <p:nvPr/>
        </p:nvSpPr>
        <p:spPr>
          <a:xfrm>
            <a:off x="8410584" y="1632336"/>
            <a:ext cx="3433763" cy="4995074"/>
          </a:xfrm>
          <a:prstGeom prst="roundRect">
            <a:avLst/>
          </a:prstGeom>
          <a:solidFill>
            <a:schemeClr val="bg1">
              <a:lumMod val="95000"/>
              <a:lumOff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3E0091F2-DA67-3E8D-3121-599D27A0781C}"/>
              </a:ext>
            </a:extLst>
          </p:cNvPr>
          <p:cNvSpPr txBox="1"/>
          <p:nvPr/>
        </p:nvSpPr>
        <p:spPr>
          <a:xfrm>
            <a:off x="1134108" y="1843078"/>
            <a:ext cx="1994871" cy="400110"/>
          </a:xfrm>
          <a:prstGeom prst="rect">
            <a:avLst/>
          </a:prstGeom>
          <a:noFill/>
        </p:spPr>
        <p:txBody>
          <a:bodyPr wrap="square" rtlCol="0">
            <a:spAutoFit/>
          </a:bodyPr>
          <a:lstStyle/>
          <a:p>
            <a:r>
              <a:rPr lang="en-US" sz="2000" b="1" dirty="0"/>
              <a:t>0-30 days plan</a:t>
            </a:r>
          </a:p>
        </p:txBody>
      </p:sp>
      <p:sp>
        <p:nvSpPr>
          <p:cNvPr id="18" name="TextBox 17">
            <a:extLst>
              <a:ext uri="{FF2B5EF4-FFF2-40B4-BE49-F238E27FC236}">
                <a16:creationId xmlns:a16="http://schemas.microsoft.com/office/drawing/2014/main" id="{A57B49D7-5317-3EF7-5A05-CD3D8E2509DA}"/>
              </a:ext>
            </a:extLst>
          </p:cNvPr>
          <p:cNvSpPr txBox="1"/>
          <p:nvPr/>
        </p:nvSpPr>
        <p:spPr>
          <a:xfrm>
            <a:off x="5097127" y="1843078"/>
            <a:ext cx="2232376" cy="400110"/>
          </a:xfrm>
          <a:prstGeom prst="rect">
            <a:avLst/>
          </a:prstGeom>
          <a:noFill/>
        </p:spPr>
        <p:txBody>
          <a:bodyPr wrap="square" rtlCol="0">
            <a:spAutoFit/>
          </a:bodyPr>
          <a:lstStyle/>
          <a:p>
            <a:r>
              <a:rPr lang="en-US" sz="2000" b="1" dirty="0"/>
              <a:t>30-60 days plan</a:t>
            </a:r>
          </a:p>
        </p:txBody>
      </p:sp>
      <p:sp>
        <p:nvSpPr>
          <p:cNvPr id="19" name="TextBox 18">
            <a:extLst>
              <a:ext uri="{FF2B5EF4-FFF2-40B4-BE49-F238E27FC236}">
                <a16:creationId xmlns:a16="http://schemas.microsoft.com/office/drawing/2014/main" id="{B4F9F3F5-9EF3-A015-5566-1A011FAFC2E6}"/>
              </a:ext>
            </a:extLst>
          </p:cNvPr>
          <p:cNvSpPr txBox="1"/>
          <p:nvPr/>
        </p:nvSpPr>
        <p:spPr>
          <a:xfrm>
            <a:off x="9133261" y="1843078"/>
            <a:ext cx="2268180" cy="400110"/>
          </a:xfrm>
          <a:prstGeom prst="rect">
            <a:avLst/>
          </a:prstGeom>
          <a:noFill/>
        </p:spPr>
        <p:txBody>
          <a:bodyPr wrap="square" rtlCol="0">
            <a:spAutoFit/>
          </a:bodyPr>
          <a:lstStyle/>
          <a:p>
            <a:r>
              <a:rPr lang="en-US" sz="2000" b="1" dirty="0"/>
              <a:t>60 -90days plan</a:t>
            </a:r>
          </a:p>
        </p:txBody>
      </p:sp>
      <p:sp>
        <p:nvSpPr>
          <p:cNvPr id="20" name="TextBox 19">
            <a:extLst>
              <a:ext uri="{FF2B5EF4-FFF2-40B4-BE49-F238E27FC236}">
                <a16:creationId xmlns:a16="http://schemas.microsoft.com/office/drawing/2014/main" id="{D6ABE885-AEA9-187F-35EA-285526840054}"/>
              </a:ext>
            </a:extLst>
          </p:cNvPr>
          <p:cNvSpPr txBox="1"/>
          <p:nvPr/>
        </p:nvSpPr>
        <p:spPr>
          <a:xfrm>
            <a:off x="497659" y="2281539"/>
            <a:ext cx="3143250" cy="4278094"/>
          </a:xfrm>
          <a:prstGeom prst="rect">
            <a:avLst/>
          </a:prstGeom>
          <a:noFill/>
        </p:spPr>
        <p:txBody>
          <a:bodyPr wrap="square" rtlCol="0">
            <a:spAutoFit/>
          </a:bodyPr>
          <a:lstStyle/>
          <a:p>
            <a:pPr marL="285750" indent="-285750">
              <a:buFont typeface="Arial" panose="020B0604020202020204" pitchFamily="34" charset="0"/>
              <a:buChar char="•"/>
            </a:pPr>
            <a:r>
              <a:rPr lang="en-US" sz="1700" dirty="0"/>
              <a:t>By monitoring performance using dashboards, we need to track our KPIs &amp; also the customer KPIs. Tighten low stock rules across stores.</a:t>
            </a:r>
          </a:p>
          <a:p>
            <a:pPr marL="285750" indent="-285750">
              <a:buFont typeface="Arial" panose="020B0604020202020204" pitchFamily="34" charset="0"/>
              <a:buChar char="•"/>
            </a:pPr>
            <a:r>
              <a:rPr lang="en-US" sz="1700" dirty="0"/>
              <a:t>Create a risk score for all stores across cities &amp; highlight ones having low performance.</a:t>
            </a:r>
          </a:p>
          <a:p>
            <a:pPr marL="285750" indent="-285750">
              <a:buFont typeface="Arial" panose="020B0604020202020204" pitchFamily="34" charset="0"/>
              <a:buChar char="•"/>
            </a:pPr>
            <a:r>
              <a:rPr lang="en-US" sz="1700" dirty="0"/>
              <a:t>Explore main pain points faced by customer dissatisfaction &amp; quantify it.</a:t>
            </a:r>
          </a:p>
          <a:p>
            <a:pPr marL="285750" indent="-285750">
              <a:buFont typeface="Arial" panose="020B0604020202020204" pitchFamily="34" charset="0"/>
              <a:buChar char="•"/>
            </a:pPr>
            <a:r>
              <a:rPr lang="en-US" sz="1700" dirty="0"/>
              <a:t>Align merchants with a data rulebook &amp; reduce the irrelevant products in the catalog.</a:t>
            </a:r>
          </a:p>
        </p:txBody>
      </p:sp>
      <p:sp>
        <p:nvSpPr>
          <p:cNvPr id="24" name="TextBox 23">
            <a:extLst>
              <a:ext uri="{FF2B5EF4-FFF2-40B4-BE49-F238E27FC236}">
                <a16:creationId xmlns:a16="http://schemas.microsoft.com/office/drawing/2014/main" id="{E917B4E8-D10C-C275-41FD-566C613BF600}"/>
              </a:ext>
            </a:extLst>
          </p:cNvPr>
          <p:cNvSpPr txBox="1"/>
          <p:nvPr/>
        </p:nvSpPr>
        <p:spPr>
          <a:xfrm>
            <a:off x="4462460" y="2443153"/>
            <a:ext cx="3143250" cy="3785652"/>
          </a:xfrm>
          <a:prstGeom prst="rect">
            <a:avLst/>
          </a:prstGeom>
          <a:noFill/>
        </p:spPr>
        <p:txBody>
          <a:bodyPr wrap="square" rtlCol="0">
            <a:spAutoFit/>
          </a:bodyPr>
          <a:lstStyle/>
          <a:p>
            <a:pPr marL="285750" indent="-285750">
              <a:buFont typeface="Arial" panose="020B0604020202020204" pitchFamily="34" charset="0"/>
              <a:buChar char="•"/>
            </a:pPr>
            <a:r>
              <a:rPr lang="en-US" sz="1600" dirty="0"/>
              <a:t>Incorporate multiple strategies across stores &amp; cities by setting a ‘specific plan’ based approach. </a:t>
            </a:r>
          </a:p>
          <a:p>
            <a:pPr marL="285750" indent="-285750">
              <a:buFont typeface="Arial" panose="020B0604020202020204" pitchFamily="34" charset="0"/>
              <a:buChar char="•"/>
            </a:pPr>
            <a:r>
              <a:rPr lang="en-US" sz="1600" dirty="0"/>
              <a:t>Update the dashboard to showcase best performers &amp; low performers based on KPIs.</a:t>
            </a:r>
          </a:p>
          <a:p>
            <a:pPr marL="285750" indent="-285750">
              <a:buFont typeface="Arial" panose="020B0604020202020204" pitchFamily="34" charset="0"/>
              <a:buChar char="•"/>
            </a:pPr>
            <a:r>
              <a:rPr lang="en-US" sz="1600" dirty="0"/>
              <a:t>Improve relationships with merchants &amp; connect based on their revised rule book data to explain what’s working &amp; what needs to improve. </a:t>
            </a:r>
          </a:p>
          <a:p>
            <a:pPr marL="285750" indent="-285750">
              <a:buFont typeface="Arial" panose="020B0604020202020204" pitchFamily="34" charset="0"/>
              <a:buChar char="•"/>
            </a:pPr>
            <a:r>
              <a:rPr lang="en-US" sz="1600" dirty="0"/>
              <a:t>Aim to reduce gap in poor stores to &lt; ~10% .</a:t>
            </a:r>
          </a:p>
          <a:p>
            <a:endParaRPr lang="en-US" sz="1600" dirty="0"/>
          </a:p>
        </p:txBody>
      </p:sp>
      <p:sp>
        <p:nvSpPr>
          <p:cNvPr id="25" name="TextBox 24">
            <a:extLst>
              <a:ext uri="{FF2B5EF4-FFF2-40B4-BE49-F238E27FC236}">
                <a16:creationId xmlns:a16="http://schemas.microsoft.com/office/drawing/2014/main" id="{ECA631F8-173D-FD16-31EF-B713E1D80E99}"/>
              </a:ext>
            </a:extLst>
          </p:cNvPr>
          <p:cNvSpPr txBox="1"/>
          <p:nvPr/>
        </p:nvSpPr>
        <p:spPr>
          <a:xfrm>
            <a:off x="8555840" y="2428291"/>
            <a:ext cx="3143250" cy="3785652"/>
          </a:xfrm>
          <a:prstGeom prst="rect">
            <a:avLst/>
          </a:prstGeom>
          <a:noFill/>
        </p:spPr>
        <p:txBody>
          <a:bodyPr wrap="square" rtlCol="0">
            <a:spAutoFit/>
          </a:bodyPr>
          <a:lstStyle/>
          <a:p>
            <a:pPr marL="285750" indent="-285750">
              <a:buFont typeface="Arial" panose="020B0604020202020204" pitchFamily="34" charset="0"/>
              <a:buChar char="•"/>
            </a:pPr>
            <a:r>
              <a:rPr lang="en-US" sz="1600" dirty="0"/>
              <a:t>Create a GenAi solution using similarity score to replace substitute SKUs based on attributes, packs etc. ( </a:t>
            </a:r>
            <a:r>
              <a:rPr lang="en-US" sz="1600" dirty="0" err="1"/>
              <a:t>eg</a:t>
            </a:r>
            <a:r>
              <a:rPr lang="en-US" sz="1600" dirty="0"/>
              <a:t> : replace top 3-4 ranked SKUs with original if OOS).</a:t>
            </a:r>
          </a:p>
          <a:p>
            <a:pPr marL="285750" indent="-285750">
              <a:buFont typeface="Arial" panose="020B0604020202020204" pitchFamily="34" charset="0"/>
              <a:buChar char="•"/>
            </a:pPr>
            <a:r>
              <a:rPr lang="en-US" sz="1600" dirty="0"/>
              <a:t>Implement better guardrails within the catalog to ensure higher accuracy &amp; to not mislead with products. </a:t>
            </a:r>
          </a:p>
          <a:p>
            <a:pPr marL="285750" indent="-285750">
              <a:buFont typeface="Arial" panose="020B0604020202020204" pitchFamily="34" charset="0"/>
              <a:buChar char="•"/>
            </a:pPr>
            <a:r>
              <a:rPr lang="en-US" sz="1600" dirty="0"/>
              <a:t>Monitor supply trends and demand for various SKUs across cities through dynamic dashboards.</a:t>
            </a:r>
          </a:p>
          <a:p>
            <a:pPr marL="285750" indent="-285750">
              <a:buFont typeface="Arial" panose="020B0604020202020204" pitchFamily="34" charset="0"/>
              <a:buChar char="•"/>
            </a:pPr>
            <a:endParaRPr lang="en-US" sz="1600" dirty="0"/>
          </a:p>
        </p:txBody>
      </p:sp>
    </p:spTree>
    <p:extLst>
      <p:ext uri="{BB962C8B-B14F-4D97-AF65-F5344CB8AC3E}">
        <p14:creationId xmlns:p14="http://schemas.microsoft.com/office/powerpoint/2010/main" val="278832143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2976D48-25F4-E6D6-1F8A-D57DCF61C42F}"/>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C02C1345-E2E2-FA00-3038-19E7FA66A98F}"/>
              </a:ext>
            </a:extLst>
          </p:cNvPr>
          <p:cNvSpPr txBox="1"/>
          <p:nvPr/>
        </p:nvSpPr>
        <p:spPr>
          <a:xfrm>
            <a:off x="3732206" y="2967335"/>
            <a:ext cx="7715250" cy="923330"/>
          </a:xfrm>
          <a:prstGeom prst="rect">
            <a:avLst/>
          </a:prstGeom>
          <a:noFill/>
        </p:spPr>
        <p:txBody>
          <a:bodyPr wrap="square" rtlCol="0">
            <a:spAutoFit/>
          </a:bodyPr>
          <a:lstStyle/>
          <a:p>
            <a:r>
              <a:rPr lang="en-US" sz="5400" b="1" dirty="0">
                <a:solidFill>
                  <a:schemeClr val="bg1"/>
                </a:solidFill>
              </a:rPr>
              <a:t>THANK YOU!!!</a:t>
            </a:r>
          </a:p>
        </p:txBody>
      </p:sp>
    </p:spTree>
    <p:extLst>
      <p:ext uri="{BB962C8B-B14F-4D97-AF65-F5344CB8AC3E}">
        <p14:creationId xmlns:p14="http://schemas.microsoft.com/office/powerpoint/2010/main" val="359027627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538D9D"/>
      </a:hlink>
      <a:folHlink>
        <a:srgbClr val="A5738E"/>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3A418E6B-C5F0-4B95-8D77-61E3EF3B5DF5}"/>
    </a:ext>
  </a:extLst>
</a:theme>
</file>

<file path=docProps/app.xml><?xml version="1.0" encoding="utf-8"?>
<Properties xmlns="http://schemas.openxmlformats.org/officeDocument/2006/extended-properties" xmlns:vt="http://schemas.openxmlformats.org/officeDocument/2006/docPropsVTypes">
  <Template/>
  <TotalTime>4168</TotalTime>
  <Words>1473</Words>
  <Application>Microsoft Macintosh PowerPoint</Application>
  <PresentationFormat>Widescreen</PresentationFormat>
  <Paragraphs>158</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Calibri</vt:lpstr>
      <vt:lpstr>Wingdings</vt:lpstr>
      <vt:lpstr>Office Theme</vt:lpstr>
      <vt:lpstr>Case Study on Catalog Assortment &amp; Fulfillment</vt:lpstr>
      <vt:lpstr>Case Statement &amp; Success Metrics</vt:lpstr>
      <vt:lpstr>Analyzing the stores performance</vt:lpstr>
      <vt:lpstr>Analyzing the stores performance contd.</vt:lpstr>
      <vt:lpstr>Analyzing the stores performance contd.</vt:lpstr>
      <vt:lpstr>     Projected ROI Impact</vt:lpstr>
      <vt:lpstr>Performance Assessment Review</vt:lpstr>
      <vt:lpstr>Steps for Improving Catalog Quality</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Daryll Dalmeida</dc:creator>
  <cp:lastModifiedBy>Daryll Dalmeida</cp:lastModifiedBy>
  <cp:revision>436</cp:revision>
  <dcterms:created xsi:type="dcterms:W3CDTF">2025-08-11T22:54:21Z</dcterms:created>
  <dcterms:modified xsi:type="dcterms:W3CDTF">2026-01-04T01:24:09Z</dcterms:modified>
</cp:coreProperties>
</file>